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'Buenas tardes. Si estás aquí es porque conoces el enorme potencial del negocio de streaming y cuentas digitales, pero también sabes la pesadilla que significa administrar 200, 500 o 1.000 clientes a mano. Hoy vengo a presentarte StreamVault v2: no es un bot cualquiera, es un ERP completo diseñado específicamente para que tu negocio facture, cobre, entregue credenciales y resuelva reclamos las 24 horas del día sin depender de que estés pegado al teléfono.'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'Pregúntate esto: ¿cuántas veces te fuiste a dormir y te despertaste con 40 mensajes de clientes enojados porque se cayó una cuenta? ¿Cuántos comprobantes truchos te habrán metido sin que te dieras cuenta por no tener tiempo de entrar al home banking? Administrar cuentas en Excel o blocs de notas tiene un techo. Cuando pasas los 200 clientes, el negocio te consume a ti. StreamVault v2 nació para erradicar este problema para siempre.'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'StreamVault no es una app suelta. Es una plataforma integrada de nivel empresarial: tiene un motor en WhatsApp que atiende a tus clientes, inteligencia artificial que analiza sus comprobantes, un sistema de auto-reparación que soluciona cuentas caídas en segundos, y una consola en Telegram y Web para que lleves el control financiero y operativo absoluto con cero esfuerzo.'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'Uno de los mayores dolores de cabeza al vender perfiles es que un cliente se mete en el perfil de otro o cambia la clave maestra. En StreamVault, cada cuenta madre está dividida en casilleros seguros con PIN encriptado. Si compraste una cuenta de 4 pantallas, el sistema te asigna perfil por perfil de forma inteligente, maximizando tu rentabilidad y avisándote antes de que venza ante tu proveedor.'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'Las caídas son inevitables en este negocio. Lo que define si tu cliente se queda o se va a la competencia es la VELOCIDAD de tu soporte. Con StreamVault, cuando una cuenta se cae, no tienes que abrir blocs de notas ni recalcular fechas: pulsas un botón y el sistema toma stock nuevo, conserva la fecha de pago original del cliente y le envía sus nuevos accesos por WhatsApp en 4 segundos. Un cliente bien atendido en una caída es un cliente fiel de por vida.'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'¿Cuánto dinero perdiste el último mes por comprobantes falsos o clientes que te mandaron la misma captura del mes pasado? Los estafadores usan apps que simulan transferencias de Mercado Pago o bancos. StreamVault tiene un cerebro de IA con Gemini Vision y hash perceptual: lee el número de comprobante, verifica que nunca antes haya sido utilizado y si detecta una foto clonada o editada, enciende una alerta roja. Tu dinero está 100% blindado.'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'El problema de cobrar a mano es que te da vergüenza o se te pasa la fecha, y el cliente sigue usando el servicio gratis. Con StreamVault, el motor de cobranzas trabaja solo: avisa 5 días antes, 2 días antes y el mismo día. Y si un cliente tiene 3 pantallas, no le manda 3 mensajes molestos; consolida todo en una sola cuenta total con CBU. Además, envía los mensajes con simulación de tipeo y pausas humanas para proteger tu chip contra bloqueos.'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'La gente ya no quiere hablar con bots fríos que parecen contestadores automáticos. En StreamVault implementamos las funciones más modernas de WhatsApp: el bot reacciona con emojis a los comprobantes, marca visto de inmediato, envía una tarjeta VCard para que el cliente te agende con un solo toque y te premia con stickers de fidelización cuando pagas. Esto le da a tu negocio una imagen de empresa multinacional.'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'¿Qué pasa si a uno de tus clientes le roban el celular? En el chat de WhatsApp tiene las claves de Netflix, Disney y Spotify guardadas para siempre. Con StreamVault puedes activar los Enlaces Efímeros: en lugar de mandar la clave por chat, el bot genera un link seguro que expira en 10 minutos o tras el primer clic. El cliente ve sus datos, los copia en su TV y la credencial desaparece. Máxima seguridad para tus cuentas madre.'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'Si tienes empleados o socios atendiendo clientes, sabes lo caótico que es compartir un WhatsApp Web. Con StreamVault conectamos el CRM Chatwoot: una bandeja compartida para 1, 5 o 20 agentes. Y lo mejor son los Slash Commands: el operador no necesita entrar a ningún panel. Escribe /renovar o /nc_disney en el chat del cliente y el sistema factura, renueva y entrega la cuenta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'Como dueño de negocio, no puedes estar atado a una laptop todo el día. El bot de Telegram de StreamVault es tu asistente personal: te manda la foto de la transferencia con botones para aprobar en 1 clic, te manda el balance de ganancias con /balance y a las 9 de la mañana te avisa exactamente qué stock te hace falta comprar. Si quieres irte de vacaciones, tu negocio sigue funcionando en la palma de tu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'Si manejas grupos de WhatsApp para tus clientes o revendedores, sabes lo molesto que es cuando entra un troll a spamear enlaces de otros servicios para robarte clientes. El módulo Atlas-MD tiene antilink inteligente con expulsión automática, te permite silenciar el grupo de noche con /mute, mencionar a todos para liquidar ofertas con /tagall y aplicar baneos silenciosos para neutralizar a los que solo vienen a molestar.'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'El costo de conseguir clientes con publicidad cada día es más caro. ¿Por qué no hacer que tus propios clientes te traigan a sus amigos y familiares? StreamVault incluye un sistema de Billetera Virtual de Referidos: cada cliente tiene su código, y cuando un amigo compra, ambos ganan saldo en su billetera para renovar gratis. Esto genera un efecto viral automático y dispara tu retención por las nubes.'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'Muchos vendedores de streaming también venden servidores de HTTP Custom, VPNs o SSH para conexión libre a internet. En la mayoría de softwares tienes que usar dos sistemas distintos. StreamVault es el único que unifica ambos: detecta el HWID del cliente en el chat, programa su vencimiento y le cobra automáticamente como si fuera una pantalla más. Dos líneas de negocio en un solo panel contable.'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'El panel de control de StreamVault fue diseñado pensando en la velocidad y en la seguridad de tu información. Tienes todo en una interfaz oscura y limpia: inventario, finanzas en pesos y comprobantes pendientes. Y lo más importante: está blindado con Doble Factor de Autenticación (2FA) y un registro de auditoría inmutable que graba cada acción. Nadie puede borrar ni cambiar nada a tus espaldas.'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'Mira esta comparación: el revendedor tradicional vive estresado, pierde 5 horas al día, le roban con comprobantes falsos y cuando llega a 250 clientes ya no da más. Con StreamVault pasas a trabajar 20 minutos al día para supervisar, tus cuentas caídas se resuelven en 4 segundos y tu retención sube al 92%. No estás comprando un software; estás comprando tu libertad y la capacidad de multiplicar por 5 tu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'No tienes que preocuparte por la parte técnica ni saber programar. Nosotros te entregamos el sistema llave en mano: lo montamos en un servidor en la nube, conectamos tu WhatsApp con un código QR, configuramos tu bot de Telegram, migramos todas tus cuentas de Excel y te capacitamos a ti y a tu equipo en una sesión en vivo. En 24 horas tu negocio ya está funcionando en piloto automático.'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DEL VENDEDOR:
'La decisión es simple: puedes seguir como hasta hoy, pasando horas pegado al teléfono, sufriendo caídas a la noche y arriesgándote a comprobantes falsos... O puedes dar el salto hoy a StreamVault, automatizar el 95% de tu operativa y empezar a escalar tu negocio en serio. Vamos a hacer una prueba en vivo en tu propio WhatsApp ahora mismo para que compruebes cómo funciona en persona. ¿Te parece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731520"/>
            <a:ext cx="11091672" cy="5303520"/>
          </a:xfrm>
          <a:prstGeom prst="roundRect">
            <a:avLst>
              <a:gd name="adj" fmla="val 3448"/>
            </a:avLst>
          </a:prstGeom>
          <a:solidFill>
            <a:srgbClr val="0E1626"/>
          </a:solidFill>
          <a:ln w="12700">
            <a:solidFill>
              <a:srgbClr val="1E293B"/>
            </a:solidFill>
            <a:prstDash val="solid"/>
          </a:ln>
        </p:spPr>
      </p:sp>
      <p:sp>
        <p:nvSpPr>
          <p:cNvPr id="3" name="Text 1"/>
          <p:cNvSpPr/>
          <p:nvPr/>
        </p:nvSpPr>
        <p:spPr>
          <a:xfrm>
            <a:off x="1097280" y="1188720"/>
            <a:ext cx="9601200" cy="548640"/>
          </a:xfrm>
          <a:prstGeom prst="rect">
            <a:avLst/>
          </a:prstGeom>
          <a:noFill/>
          <a:ln/>
        </p:spPr>
        <p:txBody>
          <a:bodyPr wrap="square" rtlCol="0" anchor="ctr"/>
          <a:lstStyle/>
          <a:p>
            <a:pPr indent="0" marL="0">
              <a:buNone/>
            </a:pPr>
            <a:r>
              <a:rPr lang="en-US" sz="3400" b="1" spc="300" kern="0" dirty="0">
                <a:solidFill>
                  <a:srgbClr val="38BDF8"/>
                </a:solidFill>
                <a:latin typeface="Calibri" pitchFamily="34" charset="0"/>
                <a:ea typeface="Calibri" pitchFamily="34" charset="-122"/>
                <a:cs typeface="Calibri" pitchFamily="34" charset="-120"/>
              </a:rPr>
              <a:t>STREAMVAULT v2</a:t>
            </a:r>
            <a:endParaRPr lang="en-US" sz="3400" dirty="0"/>
          </a:p>
        </p:txBody>
      </p:sp>
      <p:sp>
        <p:nvSpPr>
          <p:cNvPr id="4" name="Text 2"/>
          <p:cNvSpPr/>
          <p:nvPr/>
        </p:nvSpPr>
        <p:spPr>
          <a:xfrm>
            <a:off x="1097280" y="1828800"/>
            <a:ext cx="9601200" cy="54864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El Sistema Operativo Definitivo para Negocios de Streaming</a:t>
            </a:r>
            <a:endParaRPr lang="en-US" sz="2200" dirty="0"/>
          </a:p>
        </p:txBody>
      </p:sp>
      <p:sp>
        <p:nvSpPr>
          <p:cNvPr id="5" name="Text 3"/>
          <p:cNvSpPr/>
          <p:nvPr/>
        </p:nvSpPr>
        <p:spPr>
          <a:xfrm>
            <a:off x="1097280" y="2468880"/>
            <a:ext cx="9601200" cy="731520"/>
          </a:xfrm>
          <a:prstGeom prst="rect">
            <a:avLst/>
          </a:prstGeom>
          <a:noFill/>
          <a:ln/>
        </p:spPr>
        <p:txBody>
          <a:bodyPr wrap="square" rtlCol="0" anchor="ctr"/>
          <a:lstStyle/>
          <a:p>
            <a:pPr indent="0" marL="0">
              <a:buNone/>
            </a:pPr>
            <a:r>
              <a:rPr lang="en-US" sz="1300" dirty="0">
                <a:solidFill>
                  <a:srgbClr val="94A3B8"/>
                </a:solidFill>
                <a:latin typeface="Calibri" pitchFamily="34" charset="0"/>
                <a:ea typeface="Calibri" pitchFamily="34" charset="-122"/>
                <a:cs typeface="Calibri" pitchFamily="34" charset="-120"/>
              </a:rPr>
              <a:t>Automatiza la entrega de cuentas, cobranzas por WhatsApp con IA, detección anti-fraude de comprobantes y reemplazo en 1 clic de cuentas caídas.</a:t>
            </a:r>
            <a:endParaRPr lang="en-US" sz="1300" dirty="0"/>
          </a:p>
        </p:txBody>
      </p:sp>
      <p:sp>
        <p:nvSpPr>
          <p:cNvPr id="6" name="Shape 4"/>
          <p:cNvSpPr/>
          <p:nvPr/>
        </p:nvSpPr>
        <p:spPr>
          <a:xfrm>
            <a:off x="1097280" y="3566160"/>
            <a:ext cx="2286000" cy="1463040"/>
          </a:xfrm>
          <a:prstGeom prst="roundRect">
            <a:avLst>
              <a:gd name="adj" fmla="val 7500"/>
            </a:avLst>
          </a:prstGeom>
          <a:solidFill>
            <a:srgbClr val="131D31"/>
          </a:solidFill>
          <a:ln w="19050">
            <a:solidFill>
              <a:srgbClr val="10B981"/>
            </a:solidFill>
            <a:prstDash val="solid"/>
          </a:ln>
        </p:spPr>
      </p:sp>
      <p:sp>
        <p:nvSpPr>
          <p:cNvPr id="7" name="Text 5"/>
          <p:cNvSpPr/>
          <p:nvPr/>
        </p:nvSpPr>
        <p:spPr>
          <a:xfrm>
            <a:off x="1097280" y="3749040"/>
            <a:ext cx="2286000" cy="457200"/>
          </a:xfrm>
          <a:prstGeom prst="rect">
            <a:avLst/>
          </a:prstGeom>
          <a:noFill/>
          <a:ln/>
        </p:spPr>
        <p:txBody>
          <a:bodyPr wrap="square" rtlCol="0" anchor="ctr"/>
          <a:lstStyle/>
          <a:p>
            <a:pPr algn="ctr" indent="0" marL="0">
              <a:buNone/>
            </a:pPr>
            <a:r>
              <a:rPr lang="en-US" sz="2000" b="1" dirty="0">
                <a:solidFill>
                  <a:srgbClr val="10B981"/>
                </a:solidFill>
                <a:latin typeface="Calibri" pitchFamily="34" charset="0"/>
                <a:ea typeface="Calibri" pitchFamily="34" charset="-122"/>
                <a:cs typeface="Calibri" pitchFamily="34" charset="-120"/>
              </a:rPr>
              <a:t>+40%</a:t>
            </a:r>
            <a:endParaRPr lang="en-US" sz="2000" dirty="0"/>
          </a:p>
        </p:txBody>
      </p:sp>
      <p:sp>
        <p:nvSpPr>
          <p:cNvPr id="8" name="Text 6"/>
          <p:cNvSpPr/>
          <p:nvPr/>
        </p:nvSpPr>
        <p:spPr>
          <a:xfrm>
            <a:off x="1188720" y="4297680"/>
            <a:ext cx="2103120" cy="548640"/>
          </a:xfrm>
          <a:prstGeom prst="rect">
            <a:avLst/>
          </a:prstGeom>
          <a:noFill/>
          <a:ln/>
        </p:spPr>
        <p:txBody>
          <a:bodyPr wrap="square" rtlCol="0" anchor="ctr"/>
          <a:lstStyle/>
          <a:p>
            <a:pPr algn="ctr" indent="0" marL="0">
              <a:buNone/>
            </a:pPr>
            <a:r>
              <a:rPr lang="en-US" sz="1000" dirty="0">
                <a:solidFill>
                  <a:srgbClr val="F8FAFC"/>
                </a:solidFill>
                <a:latin typeface="Calibri" pitchFamily="34" charset="0"/>
                <a:ea typeface="Calibri" pitchFamily="34" charset="-122"/>
                <a:cs typeface="Calibri" pitchFamily="34" charset="-120"/>
              </a:rPr>
              <a:t>Retención de Clientes</a:t>
            </a:r>
            <a:endParaRPr lang="en-US" sz="1000" dirty="0"/>
          </a:p>
        </p:txBody>
      </p:sp>
      <p:sp>
        <p:nvSpPr>
          <p:cNvPr id="9" name="Shape 7"/>
          <p:cNvSpPr/>
          <p:nvPr/>
        </p:nvSpPr>
        <p:spPr>
          <a:xfrm>
            <a:off x="3611880" y="3566160"/>
            <a:ext cx="2286000" cy="1463040"/>
          </a:xfrm>
          <a:prstGeom prst="roundRect">
            <a:avLst>
              <a:gd name="adj" fmla="val 7500"/>
            </a:avLst>
          </a:prstGeom>
          <a:solidFill>
            <a:srgbClr val="131D31"/>
          </a:solidFill>
          <a:ln w="19050">
            <a:solidFill>
              <a:srgbClr val="38BDF8"/>
            </a:solidFill>
            <a:prstDash val="solid"/>
          </a:ln>
        </p:spPr>
      </p:sp>
      <p:sp>
        <p:nvSpPr>
          <p:cNvPr id="10" name="Text 8"/>
          <p:cNvSpPr/>
          <p:nvPr/>
        </p:nvSpPr>
        <p:spPr>
          <a:xfrm>
            <a:off x="3611880" y="3749040"/>
            <a:ext cx="2286000" cy="457200"/>
          </a:xfrm>
          <a:prstGeom prst="rect">
            <a:avLst/>
          </a:prstGeom>
          <a:noFill/>
          <a:ln/>
        </p:spPr>
        <p:txBody>
          <a:bodyPr wrap="square" rtlCol="0" anchor="ctr"/>
          <a:lstStyle/>
          <a:p>
            <a:pPr algn="ctr" indent="0" marL="0">
              <a:buNone/>
            </a:pPr>
            <a:r>
              <a:rPr lang="en-US" sz="2000" b="1" dirty="0">
                <a:solidFill>
                  <a:srgbClr val="38BDF8"/>
                </a:solidFill>
                <a:latin typeface="Calibri" pitchFamily="34" charset="0"/>
                <a:ea typeface="Calibri" pitchFamily="34" charset="-122"/>
                <a:cs typeface="Calibri" pitchFamily="34" charset="-120"/>
              </a:rPr>
              <a:t>0 Fraudes</a:t>
            </a:r>
            <a:endParaRPr lang="en-US" sz="2000" dirty="0"/>
          </a:p>
        </p:txBody>
      </p:sp>
      <p:sp>
        <p:nvSpPr>
          <p:cNvPr id="11" name="Text 9"/>
          <p:cNvSpPr/>
          <p:nvPr/>
        </p:nvSpPr>
        <p:spPr>
          <a:xfrm>
            <a:off x="3703320" y="4297680"/>
            <a:ext cx="2103120" cy="548640"/>
          </a:xfrm>
          <a:prstGeom prst="rect">
            <a:avLst/>
          </a:prstGeom>
          <a:noFill/>
          <a:ln/>
        </p:spPr>
        <p:txBody>
          <a:bodyPr wrap="square" rtlCol="0" anchor="ctr"/>
          <a:lstStyle/>
          <a:p>
            <a:pPr algn="ctr" indent="0" marL="0">
              <a:buNone/>
            </a:pPr>
            <a:r>
              <a:rPr lang="en-US" sz="1000" dirty="0">
                <a:solidFill>
                  <a:srgbClr val="F8FAFC"/>
                </a:solidFill>
                <a:latin typeface="Calibri" pitchFamily="34" charset="0"/>
                <a:ea typeface="Calibri" pitchFamily="34" charset="-122"/>
                <a:cs typeface="Calibri" pitchFamily="34" charset="-120"/>
              </a:rPr>
              <a:t>Visión IA + Anti-Reciclado</a:t>
            </a:r>
            <a:endParaRPr lang="en-US" sz="1000" dirty="0"/>
          </a:p>
        </p:txBody>
      </p:sp>
      <p:sp>
        <p:nvSpPr>
          <p:cNvPr id="12" name="Shape 10"/>
          <p:cNvSpPr/>
          <p:nvPr/>
        </p:nvSpPr>
        <p:spPr>
          <a:xfrm>
            <a:off x="6126480" y="3566160"/>
            <a:ext cx="2286000" cy="1463040"/>
          </a:xfrm>
          <a:prstGeom prst="roundRect">
            <a:avLst>
              <a:gd name="adj" fmla="val 7500"/>
            </a:avLst>
          </a:prstGeom>
          <a:solidFill>
            <a:srgbClr val="131D31"/>
          </a:solidFill>
          <a:ln w="19050">
            <a:solidFill>
              <a:srgbClr val="818CF8"/>
            </a:solidFill>
            <a:prstDash val="solid"/>
          </a:ln>
        </p:spPr>
      </p:sp>
      <p:sp>
        <p:nvSpPr>
          <p:cNvPr id="13" name="Text 11"/>
          <p:cNvSpPr/>
          <p:nvPr/>
        </p:nvSpPr>
        <p:spPr>
          <a:xfrm>
            <a:off x="6126480" y="3749040"/>
            <a:ext cx="2286000" cy="457200"/>
          </a:xfrm>
          <a:prstGeom prst="rect">
            <a:avLst/>
          </a:prstGeom>
          <a:noFill/>
          <a:ln/>
        </p:spPr>
        <p:txBody>
          <a:bodyPr wrap="square" rtlCol="0" anchor="ctr"/>
          <a:lstStyle/>
          <a:p>
            <a:pPr algn="ctr" indent="0" marL="0">
              <a:buNone/>
            </a:pPr>
            <a:r>
              <a:rPr lang="en-US" sz="2000" b="1" dirty="0">
                <a:solidFill>
                  <a:srgbClr val="818CF8"/>
                </a:solidFill>
                <a:latin typeface="Calibri" pitchFamily="34" charset="0"/>
                <a:ea typeface="Calibri" pitchFamily="34" charset="-122"/>
                <a:cs typeface="Calibri" pitchFamily="34" charset="-120"/>
              </a:rPr>
              <a:t>4 Segundos</a:t>
            </a:r>
            <a:endParaRPr lang="en-US" sz="2000" dirty="0"/>
          </a:p>
        </p:txBody>
      </p:sp>
      <p:sp>
        <p:nvSpPr>
          <p:cNvPr id="14" name="Text 12"/>
          <p:cNvSpPr/>
          <p:nvPr/>
        </p:nvSpPr>
        <p:spPr>
          <a:xfrm>
            <a:off x="6217920" y="4297680"/>
            <a:ext cx="2103120" cy="548640"/>
          </a:xfrm>
          <a:prstGeom prst="rect">
            <a:avLst/>
          </a:prstGeom>
          <a:noFill/>
          <a:ln/>
        </p:spPr>
        <p:txBody>
          <a:bodyPr wrap="square" rtlCol="0" anchor="ctr"/>
          <a:lstStyle/>
          <a:p>
            <a:pPr algn="ctr" indent="0" marL="0">
              <a:buNone/>
            </a:pPr>
            <a:r>
              <a:rPr lang="en-US" sz="1000" dirty="0">
                <a:solidFill>
                  <a:srgbClr val="F8FAFC"/>
                </a:solidFill>
                <a:latin typeface="Calibri" pitchFamily="34" charset="0"/>
                <a:ea typeface="Calibri" pitchFamily="34" charset="-122"/>
                <a:cs typeface="Calibri" pitchFamily="34" charset="-120"/>
              </a:rPr>
              <a:t>Resolución de Caídas</a:t>
            </a:r>
            <a:endParaRPr lang="en-US" sz="1000" dirty="0"/>
          </a:p>
        </p:txBody>
      </p:sp>
      <p:sp>
        <p:nvSpPr>
          <p:cNvPr id="15" name="Shape 13"/>
          <p:cNvSpPr/>
          <p:nvPr/>
        </p:nvSpPr>
        <p:spPr>
          <a:xfrm>
            <a:off x="8641080" y="3566160"/>
            <a:ext cx="2286000" cy="1463040"/>
          </a:xfrm>
          <a:prstGeom prst="roundRect">
            <a:avLst>
              <a:gd name="adj" fmla="val 7500"/>
            </a:avLst>
          </a:prstGeom>
          <a:solidFill>
            <a:srgbClr val="131D31"/>
          </a:solidFill>
          <a:ln w="19050">
            <a:solidFill>
              <a:srgbClr val="F59E0B"/>
            </a:solidFill>
            <a:prstDash val="solid"/>
          </a:ln>
        </p:spPr>
      </p:sp>
      <p:sp>
        <p:nvSpPr>
          <p:cNvPr id="16" name="Text 14"/>
          <p:cNvSpPr/>
          <p:nvPr/>
        </p:nvSpPr>
        <p:spPr>
          <a:xfrm>
            <a:off x="8641080" y="3749040"/>
            <a:ext cx="2286000" cy="457200"/>
          </a:xfrm>
          <a:prstGeom prst="rect">
            <a:avLst/>
          </a:prstGeom>
          <a:noFill/>
          <a:ln/>
        </p:spPr>
        <p:txBody>
          <a:bodyPr wrap="square"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25+ Horas</a:t>
            </a:r>
            <a:endParaRPr lang="en-US" sz="2000" dirty="0"/>
          </a:p>
        </p:txBody>
      </p:sp>
      <p:sp>
        <p:nvSpPr>
          <p:cNvPr id="17" name="Text 15"/>
          <p:cNvSpPr/>
          <p:nvPr/>
        </p:nvSpPr>
        <p:spPr>
          <a:xfrm>
            <a:off x="8732520" y="4297680"/>
            <a:ext cx="2103120" cy="548640"/>
          </a:xfrm>
          <a:prstGeom prst="rect">
            <a:avLst/>
          </a:prstGeom>
          <a:noFill/>
          <a:ln/>
        </p:spPr>
        <p:txBody>
          <a:bodyPr wrap="square" rtlCol="0" anchor="ctr"/>
          <a:lstStyle/>
          <a:p>
            <a:pPr algn="ctr" indent="0" marL="0">
              <a:buNone/>
            </a:pPr>
            <a:r>
              <a:rPr lang="en-US" sz="1000" dirty="0">
                <a:solidFill>
                  <a:srgbClr val="F8FAFC"/>
                </a:solidFill>
                <a:latin typeface="Calibri" pitchFamily="34" charset="0"/>
                <a:ea typeface="Calibri" pitchFamily="34" charset="-122"/>
                <a:cs typeface="Calibri" pitchFamily="34" charset="-120"/>
              </a:rPr>
              <a:t>Ahorradas por Semana</a:t>
            </a:r>
            <a:endParaRPr lang="en-US" sz="1000" dirty="0"/>
          </a:p>
        </p:txBody>
      </p:sp>
      <p:sp>
        <p:nvSpPr>
          <p:cNvPr id="18" name="Text 16"/>
          <p:cNvSpPr/>
          <p:nvPr/>
        </p:nvSpPr>
        <p:spPr>
          <a:xfrm>
            <a:off x="1097280" y="5394960"/>
            <a:ext cx="9601200" cy="274320"/>
          </a:xfrm>
          <a:prstGeom prst="rect">
            <a:avLst/>
          </a:prstGeom>
          <a:noFill/>
          <a:ln/>
        </p:spPr>
        <p:txBody>
          <a:bodyPr wrap="square"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PRESENTACIÓN COMERCIAL Y DEMO DE CAPACIDADES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65760"/>
            <a:ext cx="11091672" cy="45720"/>
          </a:xfrm>
          <a:prstGeom prst="rect">
            <a:avLst/>
          </a:prstGeom>
          <a:solidFill>
            <a:srgbClr val="38BDF8"/>
          </a:solidFill>
          <a:ln/>
        </p:spPr>
      </p:sp>
      <p:sp>
        <p:nvSpPr>
          <p:cNvPr id="3" name="Text 1"/>
          <p:cNvSpPr/>
          <p:nvPr/>
        </p:nvSpPr>
        <p:spPr>
          <a:xfrm>
            <a:off x="548640" y="502920"/>
            <a:ext cx="9144000" cy="274320"/>
          </a:xfrm>
          <a:prstGeom prst="rect">
            <a:avLst/>
          </a:prstGeom>
          <a:noFill/>
          <a:ln/>
        </p:spPr>
        <p:txBody>
          <a:bodyPr wrap="square"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DIAGNÓSTICO DEL SECTOR</a:t>
            </a:r>
            <a:endParaRPr lang="en-US" sz="1000" dirty="0"/>
          </a:p>
        </p:txBody>
      </p:sp>
      <p:sp>
        <p:nvSpPr>
          <p:cNvPr id="4" name="Text 2"/>
          <p:cNvSpPr/>
          <p:nvPr/>
        </p:nvSpPr>
        <p:spPr>
          <a:xfrm>
            <a:off x="548640" y="777240"/>
            <a:ext cx="11091672" cy="45720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La Pesadilla Operativa de Vender Streaming a Mano</a:t>
            </a:r>
            <a:endParaRPr lang="en-US" sz="2200" dirty="0"/>
          </a:p>
        </p:txBody>
      </p:sp>
      <p:sp>
        <p:nvSpPr>
          <p:cNvPr id="5" name="Text 3"/>
          <p:cNvSpPr/>
          <p:nvPr/>
        </p:nvSpPr>
        <p:spPr>
          <a:xfrm>
            <a:off x="548640" y="1234440"/>
            <a:ext cx="11091672"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¿Por qué el 85% de los revendedores se estancan y pierden dinero?</a:t>
            </a:r>
            <a:endParaRPr lang="en-US" sz="1200" dirty="0"/>
          </a:p>
        </p:txBody>
      </p:sp>
      <p:sp>
        <p:nvSpPr>
          <p:cNvPr id="6" name="Shape 4"/>
          <p:cNvSpPr/>
          <p:nvPr/>
        </p:nvSpPr>
        <p:spPr>
          <a:xfrm>
            <a:off x="548640" y="1645920"/>
            <a:ext cx="3474720" cy="4480560"/>
          </a:xfrm>
          <a:prstGeom prst="roundRect">
            <a:avLst>
              <a:gd name="adj" fmla="val 2632"/>
            </a:avLst>
          </a:prstGeom>
          <a:solidFill>
            <a:srgbClr val="131D31"/>
          </a:solidFill>
          <a:ln w="19050">
            <a:solidFill>
              <a:srgbClr val="EF4444"/>
            </a:solidFill>
            <a:prstDash val="solid"/>
          </a:ln>
        </p:spPr>
      </p:sp>
      <p:sp>
        <p:nvSpPr>
          <p:cNvPr id="7" name="Text 5"/>
          <p:cNvSpPr/>
          <p:nvPr/>
        </p:nvSpPr>
        <p:spPr>
          <a:xfrm>
            <a:off x="77724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PESADILLA #1</a:t>
            </a:r>
            <a:endParaRPr lang="en-US" sz="900" dirty="0"/>
          </a:p>
        </p:txBody>
      </p:sp>
      <p:sp>
        <p:nvSpPr>
          <p:cNvPr id="8" name="Text 6"/>
          <p:cNvSpPr/>
          <p:nvPr/>
        </p:nvSpPr>
        <p:spPr>
          <a:xfrm>
            <a:off x="77724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1. Caídas Nocturnas y Reclamos</a:t>
            </a:r>
            <a:endParaRPr lang="en-US" sz="1300" dirty="0"/>
          </a:p>
        </p:txBody>
      </p:sp>
      <p:sp>
        <p:nvSpPr>
          <p:cNvPr id="9" name="Text 7"/>
          <p:cNvSpPr/>
          <p:nvPr/>
        </p:nvSpPr>
        <p:spPr>
          <a:xfrm>
            <a:off x="77724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Cuentas caídas a las 11 PM un sábado durante un partido clave.</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El revendedor tarda 20 a 30 minutos buscando reemplazo mientras el cliente amenaza con cancelar.</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Falta de inventario organizado genera devoluciones y pérdida de reputación.</a:t>
            </a:r>
            <a:endParaRPr lang="en-US" sz="1050" dirty="0"/>
          </a:p>
        </p:txBody>
      </p:sp>
      <p:sp>
        <p:nvSpPr>
          <p:cNvPr id="10" name="Shape 8"/>
          <p:cNvSpPr/>
          <p:nvPr/>
        </p:nvSpPr>
        <p:spPr>
          <a:xfrm>
            <a:off x="4343400" y="1645920"/>
            <a:ext cx="3474720" cy="4480560"/>
          </a:xfrm>
          <a:prstGeom prst="roundRect">
            <a:avLst>
              <a:gd name="adj" fmla="val 2632"/>
            </a:avLst>
          </a:prstGeom>
          <a:solidFill>
            <a:srgbClr val="131D31"/>
          </a:solidFill>
          <a:ln w="19050">
            <a:solidFill>
              <a:srgbClr val="EF4444"/>
            </a:solidFill>
            <a:prstDash val="solid"/>
          </a:ln>
        </p:spPr>
      </p:sp>
      <p:sp>
        <p:nvSpPr>
          <p:cNvPr id="11" name="Text 9"/>
          <p:cNvSpPr/>
          <p:nvPr/>
        </p:nvSpPr>
        <p:spPr>
          <a:xfrm>
            <a:off x="457200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PESADILLA #2</a:t>
            </a:r>
            <a:endParaRPr lang="en-US" sz="900" dirty="0"/>
          </a:p>
        </p:txBody>
      </p:sp>
      <p:sp>
        <p:nvSpPr>
          <p:cNvPr id="12" name="Text 10"/>
          <p:cNvSpPr/>
          <p:nvPr/>
        </p:nvSpPr>
        <p:spPr>
          <a:xfrm>
            <a:off x="457200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2. Estafas con Comprobantes Falsos</a:t>
            </a:r>
            <a:endParaRPr lang="en-US" sz="1300" dirty="0"/>
          </a:p>
        </p:txBody>
      </p:sp>
      <p:sp>
        <p:nvSpPr>
          <p:cNvPr id="13" name="Text 11"/>
          <p:cNvSpPr/>
          <p:nvPr/>
        </p:nvSpPr>
        <p:spPr>
          <a:xfrm>
            <a:off x="457200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Clientes envían comprobantes editados con Photoshop o recortados.</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Reenvían el mismo comprobante del mes pasado cambiando la fecha.</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Pérdidas directas de entre $30.000 y $150.000 ARS mensuales por aprobaciones por apuro.</a:t>
            </a:r>
            <a:endParaRPr lang="en-US" sz="1050" dirty="0"/>
          </a:p>
        </p:txBody>
      </p:sp>
      <p:sp>
        <p:nvSpPr>
          <p:cNvPr id="14" name="Shape 12"/>
          <p:cNvSpPr/>
          <p:nvPr/>
        </p:nvSpPr>
        <p:spPr>
          <a:xfrm>
            <a:off x="8138160" y="1645920"/>
            <a:ext cx="3474720" cy="4480560"/>
          </a:xfrm>
          <a:prstGeom prst="roundRect">
            <a:avLst>
              <a:gd name="adj" fmla="val 2632"/>
            </a:avLst>
          </a:prstGeom>
          <a:solidFill>
            <a:srgbClr val="131D31"/>
          </a:solidFill>
          <a:ln w="19050">
            <a:solidFill>
              <a:srgbClr val="EF4444"/>
            </a:solidFill>
            <a:prstDash val="solid"/>
          </a:ln>
        </p:spPr>
      </p:sp>
      <p:sp>
        <p:nvSpPr>
          <p:cNvPr id="15" name="Text 13"/>
          <p:cNvSpPr/>
          <p:nvPr/>
        </p:nvSpPr>
        <p:spPr>
          <a:xfrm>
            <a:off x="836676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PESADILLA #3</a:t>
            </a:r>
            <a:endParaRPr lang="en-US" sz="900" dirty="0"/>
          </a:p>
        </p:txBody>
      </p:sp>
      <p:sp>
        <p:nvSpPr>
          <p:cNvPr id="16" name="Text 14"/>
          <p:cNvSpPr/>
          <p:nvPr/>
        </p:nvSpPr>
        <p:spPr>
          <a:xfrm>
            <a:off x="836676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3. Morosidad y WhatsApp Colapsado</a:t>
            </a:r>
            <a:endParaRPr lang="en-US" sz="1300" dirty="0"/>
          </a:p>
        </p:txBody>
      </p:sp>
      <p:sp>
        <p:nvSpPr>
          <p:cNvPr id="17" name="Text 15"/>
          <p:cNvSpPr/>
          <p:nvPr/>
        </p:nvSpPr>
        <p:spPr>
          <a:xfrm>
            <a:off x="836676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Clientes que se vencen y siguen usando la cuenta sin pagar.</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150 chats diarios preguntando '¿cuándo vence?', 'pasame el CBU', 'se cayó mi PIN'.</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El dueño del negocio trabaja 14 horas al día atrapado en su teléfono sin tiempo para vender.</a:t>
            </a:r>
            <a:endParaRPr lang="en-US" sz="1050" dirty="0"/>
          </a:p>
        </p:txBody>
      </p:sp>
      <p:sp>
        <p:nvSpPr>
          <p:cNvPr id="18" name="Text 16"/>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StreamVault v2 • Plataforma de Automatización y CRM para Streaming</a:t>
            </a:r>
            <a:endParaRPr lang="en-US" sz="900" dirty="0"/>
          </a:p>
        </p:txBody>
      </p:sp>
      <p:sp>
        <p:nvSpPr>
          <p:cNvPr id="19" name="Text 17"/>
          <p:cNvSpPr/>
          <p:nvPr/>
        </p:nvSpPr>
        <p:spPr>
          <a:xfrm>
            <a:off x="10515600" y="649224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Slide 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65760"/>
            <a:ext cx="11091672" cy="45720"/>
          </a:xfrm>
          <a:prstGeom prst="rect">
            <a:avLst/>
          </a:prstGeom>
          <a:solidFill>
            <a:srgbClr val="38BDF8"/>
          </a:solidFill>
          <a:ln/>
        </p:spPr>
      </p:sp>
      <p:sp>
        <p:nvSpPr>
          <p:cNvPr id="3" name="Text 1"/>
          <p:cNvSpPr/>
          <p:nvPr/>
        </p:nvSpPr>
        <p:spPr>
          <a:xfrm>
            <a:off x="548640" y="502920"/>
            <a:ext cx="9144000" cy="274320"/>
          </a:xfrm>
          <a:prstGeom prst="rect">
            <a:avLst/>
          </a:prstGeom>
          <a:noFill/>
          <a:ln/>
        </p:spPr>
        <p:txBody>
          <a:bodyPr wrap="square"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ECOSISTEMA INTEGRAL</a:t>
            </a:r>
            <a:endParaRPr lang="en-US" sz="1000" dirty="0"/>
          </a:p>
        </p:txBody>
      </p:sp>
      <p:sp>
        <p:nvSpPr>
          <p:cNvPr id="4" name="Text 2"/>
          <p:cNvSpPr/>
          <p:nvPr/>
        </p:nvSpPr>
        <p:spPr>
          <a:xfrm>
            <a:off x="548640" y="777240"/>
            <a:ext cx="11091672" cy="45720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StreamVault v2: Tu Negocio en Piloto Automático</a:t>
            </a:r>
            <a:endParaRPr lang="en-US" sz="2200" dirty="0"/>
          </a:p>
        </p:txBody>
      </p:sp>
      <p:sp>
        <p:nvSpPr>
          <p:cNvPr id="5" name="Text 3"/>
          <p:cNvSpPr/>
          <p:nvPr/>
        </p:nvSpPr>
        <p:spPr>
          <a:xfrm>
            <a:off x="548640" y="1234440"/>
            <a:ext cx="11091672"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Una arquitectura robusta de 6 pilares que conecta WhatsApp, Telegram, CRM y Dashboard Web</a:t>
            </a:r>
            <a:endParaRPr lang="en-US" sz="1200" dirty="0"/>
          </a:p>
        </p:txBody>
      </p:sp>
      <p:sp>
        <p:nvSpPr>
          <p:cNvPr id="6" name="Shape 4"/>
          <p:cNvSpPr/>
          <p:nvPr/>
        </p:nvSpPr>
        <p:spPr>
          <a:xfrm>
            <a:off x="548640" y="1645920"/>
            <a:ext cx="3520440" cy="2148840"/>
          </a:xfrm>
          <a:prstGeom prst="roundRect">
            <a:avLst>
              <a:gd name="adj" fmla="val 4255"/>
            </a:avLst>
          </a:prstGeom>
          <a:solidFill>
            <a:srgbClr val="131D31"/>
          </a:solidFill>
          <a:ln w="19050">
            <a:solidFill>
              <a:srgbClr val="38BDF8"/>
            </a:solidFill>
            <a:prstDash val="solid"/>
          </a:ln>
        </p:spPr>
      </p:sp>
      <p:sp>
        <p:nvSpPr>
          <p:cNvPr id="7" name="Text 5"/>
          <p:cNvSpPr/>
          <p:nvPr/>
        </p:nvSpPr>
        <p:spPr>
          <a:xfrm>
            <a:off x="777240" y="1828800"/>
            <a:ext cx="306324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WHATSAPP BOT</a:t>
            </a:r>
            <a:endParaRPr lang="en-US" sz="900" dirty="0"/>
          </a:p>
        </p:txBody>
      </p:sp>
      <p:sp>
        <p:nvSpPr>
          <p:cNvPr id="8" name="Text 6"/>
          <p:cNvSpPr/>
          <p:nvPr/>
        </p:nvSpPr>
        <p:spPr>
          <a:xfrm>
            <a:off x="777240" y="2057400"/>
            <a:ext cx="306324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WhatsApp Inteligente</a:t>
            </a:r>
            <a:endParaRPr lang="en-US" sz="1300" dirty="0"/>
          </a:p>
        </p:txBody>
      </p:sp>
      <p:sp>
        <p:nvSpPr>
          <p:cNvPr id="9" name="Text 7"/>
          <p:cNvSpPr/>
          <p:nvPr/>
        </p:nvSpPr>
        <p:spPr>
          <a:xfrm>
            <a:off x="777240" y="2423160"/>
            <a:ext cx="3063240" cy="118872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Evolution API + WPPConnect. Auto-atención 24/7, entrega de claves efímeras y confirmaciones con reacciones y stickers.</a:t>
            </a:r>
            <a:endParaRPr lang="en-US" sz="1050" dirty="0"/>
          </a:p>
        </p:txBody>
      </p:sp>
      <p:sp>
        <p:nvSpPr>
          <p:cNvPr id="10" name="Shape 8"/>
          <p:cNvSpPr/>
          <p:nvPr/>
        </p:nvSpPr>
        <p:spPr>
          <a:xfrm>
            <a:off x="4343400" y="1645920"/>
            <a:ext cx="3520440" cy="2148840"/>
          </a:xfrm>
          <a:prstGeom prst="roundRect">
            <a:avLst>
              <a:gd name="adj" fmla="val 4255"/>
            </a:avLst>
          </a:prstGeom>
          <a:solidFill>
            <a:srgbClr val="131D31"/>
          </a:solidFill>
          <a:ln w="19050">
            <a:solidFill>
              <a:srgbClr val="38BDF8"/>
            </a:solidFill>
            <a:prstDash val="solid"/>
          </a:ln>
        </p:spPr>
      </p:sp>
      <p:sp>
        <p:nvSpPr>
          <p:cNvPr id="11" name="Text 9"/>
          <p:cNvSpPr/>
          <p:nvPr/>
        </p:nvSpPr>
        <p:spPr>
          <a:xfrm>
            <a:off x="4572000" y="1828800"/>
            <a:ext cx="306324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OCR + IA</a:t>
            </a:r>
            <a:endParaRPr lang="en-US" sz="900" dirty="0"/>
          </a:p>
        </p:txBody>
      </p:sp>
      <p:sp>
        <p:nvSpPr>
          <p:cNvPr id="12" name="Text 10"/>
          <p:cNvSpPr/>
          <p:nvPr/>
        </p:nvSpPr>
        <p:spPr>
          <a:xfrm>
            <a:off x="4572000" y="2057400"/>
            <a:ext cx="306324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Visión IA Anti-Fraude</a:t>
            </a:r>
            <a:endParaRPr lang="en-US" sz="1300" dirty="0"/>
          </a:p>
        </p:txBody>
      </p:sp>
      <p:sp>
        <p:nvSpPr>
          <p:cNvPr id="13" name="Text 11"/>
          <p:cNvSpPr/>
          <p:nvPr/>
        </p:nvSpPr>
        <p:spPr>
          <a:xfrm>
            <a:off x="4572000" y="2423160"/>
            <a:ext cx="3063240" cy="118872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Gemini Vision + OCR + pHash perceptual. Lee comprobantes al instante y detecta tickets reciclados o modificados.</a:t>
            </a:r>
            <a:endParaRPr lang="en-US" sz="1050" dirty="0"/>
          </a:p>
        </p:txBody>
      </p:sp>
      <p:sp>
        <p:nvSpPr>
          <p:cNvPr id="14" name="Shape 12"/>
          <p:cNvSpPr/>
          <p:nvPr/>
        </p:nvSpPr>
        <p:spPr>
          <a:xfrm>
            <a:off x="8138160" y="1645920"/>
            <a:ext cx="3520440" cy="2148840"/>
          </a:xfrm>
          <a:prstGeom prst="roundRect">
            <a:avLst>
              <a:gd name="adj" fmla="val 4255"/>
            </a:avLst>
          </a:prstGeom>
          <a:solidFill>
            <a:srgbClr val="131D31"/>
          </a:solidFill>
          <a:ln w="19050">
            <a:solidFill>
              <a:srgbClr val="38BDF8"/>
            </a:solidFill>
            <a:prstDash val="solid"/>
          </a:ln>
        </p:spPr>
      </p:sp>
      <p:sp>
        <p:nvSpPr>
          <p:cNvPr id="15" name="Text 13"/>
          <p:cNvSpPr/>
          <p:nvPr/>
        </p:nvSpPr>
        <p:spPr>
          <a:xfrm>
            <a:off x="8366760" y="1828800"/>
            <a:ext cx="306324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SOPORTE 24/7</a:t>
            </a:r>
            <a:endParaRPr lang="en-US" sz="900" dirty="0"/>
          </a:p>
        </p:txBody>
      </p:sp>
      <p:sp>
        <p:nvSpPr>
          <p:cNvPr id="16" name="Text 14"/>
          <p:cNvSpPr/>
          <p:nvPr/>
        </p:nvSpPr>
        <p:spPr>
          <a:xfrm>
            <a:off x="8366760" y="2057400"/>
            <a:ext cx="306324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Auto-Healing en 1 Clic</a:t>
            </a:r>
            <a:endParaRPr lang="en-US" sz="1300" dirty="0"/>
          </a:p>
        </p:txBody>
      </p:sp>
      <p:sp>
        <p:nvSpPr>
          <p:cNvPr id="17" name="Text 15"/>
          <p:cNvSpPr/>
          <p:nvPr/>
        </p:nvSpPr>
        <p:spPr>
          <a:xfrm>
            <a:off x="8366760" y="2423160"/>
            <a:ext cx="3063240" cy="118872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Reemplazo instantáneo de cuentas caídas. Asigna stock libre, mantiene la fecha de vencimiento y avisa al cliente en 4s.</a:t>
            </a:r>
            <a:endParaRPr lang="en-US" sz="1050" dirty="0"/>
          </a:p>
        </p:txBody>
      </p:sp>
      <p:sp>
        <p:nvSpPr>
          <p:cNvPr id="18" name="Shape 16"/>
          <p:cNvSpPr/>
          <p:nvPr/>
        </p:nvSpPr>
        <p:spPr>
          <a:xfrm>
            <a:off x="548640" y="3977640"/>
            <a:ext cx="3520440" cy="2148840"/>
          </a:xfrm>
          <a:prstGeom prst="roundRect">
            <a:avLst>
              <a:gd name="adj" fmla="val 4255"/>
            </a:avLst>
          </a:prstGeom>
          <a:solidFill>
            <a:srgbClr val="131D31"/>
          </a:solidFill>
          <a:ln w="19050">
            <a:solidFill>
              <a:srgbClr val="38BDF8"/>
            </a:solidFill>
            <a:prstDash val="solid"/>
          </a:ln>
        </p:spPr>
      </p:sp>
      <p:sp>
        <p:nvSpPr>
          <p:cNvPr id="19" name="Text 17"/>
          <p:cNvSpPr/>
          <p:nvPr/>
        </p:nvSpPr>
        <p:spPr>
          <a:xfrm>
            <a:off x="777240" y="4160520"/>
            <a:ext cx="306324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SCHEDULER</a:t>
            </a:r>
            <a:endParaRPr lang="en-US" sz="900" dirty="0"/>
          </a:p>
        </p:txBody>
      </p:sp>
      <p:sp>
        <p:nvSpPr>
          <p:cNvPr id="20" name="Text 18"/>
          <p:cNvSpPr/>
          <p:nvPr/>
        </p:nvSpPr>
        <p:spPr>
          <a:xfrm>
            <a:off x="777240" y="4389120"/>
            <a:ext cx="306324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Cobranzas Humanizadas</a:t>
            </a:r>
            <a:endParaRPr lang="en-US" sz="1300" dirty="0"/>
          </a:p>
        </p:txBody>
      </p:sp>
      <p:sp>
        <p:nvSpPr>
          <p:cNvPr id="21" name="Text 19"/>
          <p:cNvSpPr/>
          <p:nvPr/>
        </p:nvSpPr>
        <p:spPr>
          <a:xfrm>
            <a:off x="777240" y="4754880"/>
            <a:ext cx="3063240" cy="118872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Recordatorios preventivos T-5, T-2 y T-0 agrupando todos los servicios del cliente con delays anti-baneo de WhatsApp.</a:t>
            </a:r>
            <a:endParaRPr lang="en-US" sz="1050" dirty="0"/>
          </a:p>
        </p:txBody>
      </p:sp>
      <p:sp>
        <p:nvSpPr>
          <p:cNvPr id="22" name="Shape 20"/>
          <p:cNvSpPr/>
          <p:nvPr/>
        </p:nvSpPr>
        <p:spPr>
          <a:xfrm>
            <a:off x="4343400" y="3977640"/>
            <a:ext cx="3520440" cy="2148840"/>
          </a:xfrm>
          <a:prstGeom prst="roundRect">
            <a:avLst>
              <a:gd name="adj" fmla="val 4255"/>
            </a:avLst>
          </a:prstGeom>
          <a:solidFill>
            <a:srgbClr val="131D31"/>
          </a:solidFill>
          <a:ln w="19050">
            <a:solidFill>
              <a:srgbClr val="38BDF8"/>
            </a:solidFill>
            <a:prstDash val="solid"/>
          </a:ln>
        </p:spPr>
      </p:sp>
      <p:sp>
        <p:nvSpPr>
          <p:cNvPr id="23" name="Text 21"/>
          <p:cNvSpPr/>
          <p:nvPr/>
        </p:nvSpPr>
        <p:spPr>
          <a:xfrm>
            <a:off x="4572000" y="4160520"/>
            <a:ext cx="306324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OMNICANAL</a:t>
            </a:r>
            <a:endParaRPr lang="en-US" sz="900" dirty="0"/>
          </a:p>
        </p:txBody>
      </p:sp>
      <p:sp>
        <p:nvSpPr>
          <p:cNvPr id="24" name="Text 22"/>
          <p:cNvSpPr/>
          <p:nvPr/>
        </p:nvSpPr>
        <p:spPr>
          <a:xfrm>
            <a:off x="4572000" y="4389120"/>
            <a:ext cx="306324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CRM Chatwoot en Vivo</a:t>
            </a:r>
            <a:endParaRPr lang="en-US" sz="1300" dirty="0"/>
          </a:p>
        </p:txBody>
      </p:sp>
      <p:sp>
        <p:nvSpPr>
          <p:cNvPr id="25" name="Text 23"/>
          <p:cNvSpPr/>
          <p:nvPr/>
        </p:nvSpPr>
        <p:spPr>
          <a:xfrm>
            <a:off x="4572000" y="4754880"/>
            <a:ext cx="3063240" cy="118872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Bandeja multicanal para todo tu equipo. Slash commands (/pago, /caida) en notas privadas para operar en segundos.</a:t>
            </a:r>
            <a:endParaRPr lang="en-US" sz="1050" dirty="0"/>
          </a:p>
        </p:txBody>
      </p:sp>
      <p:sp>
        <p:nvSpPr>
          <p:cNvPr id="26" name="Shape 24"/>
          <p:cNvSpPr/>
          <p:nvPr/>
        </p:nvSpPr>
        <p:spPr>
          <a:xfrm>
            <a:off x="8138160" y="3977640"/>
            <a:ext cx="3520440" cy="2148840"/>
          </a:xfrm>
          <a:prstGeom prst="roundRect">
            <a:avLst>
              <a:gd name="adj" fmla="val 4255"/>
            </a:avLst>
          </a:prstGeom>
          <a:solidFill>
            <a:srgbClr val="131D31"/>
          </a:solidFill>
          <a:ln w="19050">
            <a:solidFill>
              <a:srgbClr val="38BDF8"/>
            </a:solidFill>
            <a:prstDash val="solid"/>
          </a:ln>
        </p:spPr>
      </p:sp>
      <p:sp>
        <p:nvSpPr>
          <p:cNvPr id="27" name="Text 25"/>
          <p:cNvSpPr/>
          <p:nvPr/>
        </p:nvSpPr>
        <p:spPr>
          <a:xfrm>
            <a:off x="8366760" y="4160520"/>
            <a:ext cx="306324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CONTROL TOTAL</a:t>
            </a:r>
            <a:endParaRPr lang="en-US" sz="900" dirty="0"/>
          </a:p>
        </p:txBody>
      </p:sp>
      <p:sp>
        <p:nvSpPr>
          <p:cNvPr id="28" name="Text 26"/>
          <p:cNvSpPr/>
          <p:nvPr/>
        </p:nvSpPr>
        <p:spPr>
          <a:xfrm>
            <a:off x="8366760" y="4389120"/>
            <a:ext cx="306324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Centro Telegram &amp; Web</a:t>
            </a:r>
            <a:endParaRPr lang="en-US" sz="1300" dirty="0"/>
          </a:p>
        </p:txBody>
      </p:sp>
      <p:sp>
        <p:nvSpPr>
          <p:cNvPr id="29" name="Text 27"/>
          <p:cNvSpPr/>
          <p:nvPr/>
        </p:nvSpPr>
        <p:spPr>
          <a:xfrm>
            <a:off x="8366760" y="4754880"/>
            <a:ext cx="3063240" cy="118872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Dashboard Web seguro con 2FA + Bot de Telegram para controlar stock, finanzas y alertas desde tu teléfono.</a:t>
            </a:r>
            <a:endParaRPr lang="en-US" sz="1050" dirty="0"/>
          </a:p>
        </p:txBody>
      </p:sp>
      <p:sp>
        <p:nvSpPr>
          <p:cNvPr id="30" name="Text 28"/>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StreamVault v2 • Plataforma de Automatización y CRM para Streaming</a:t>
            </a:r>
            <a:endParaRPr lang="en-US" sz="900" dirty="0"/>
          </a:p>
        </p:txBody>
      </p:sp>
      <p:sp>
        <p:nvSpPr>
          <p:cNvPr id="31" name="Text 29"/>
          <p:cNvSpPr/>
          <p:nvPr/>
        </p:nvSpPr>
        <p:spPr>
          <a:xfrm>
            <a:off x="10515600" y="649224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Slide 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65760"/>
            <a:ext cx="11091672" cy="45720"/>
          </a:xfrm>
          <a:prstGeom prst="rect">
            <a:avLst/>
          </a:prstGeom>
          <a:solidFill>
            <a:srgbClr val="38BDF8"/>
          </a:solidFill>
          <a:ln/>
        </p:spPr>
      </p:sp>
      <p:sp>
        <p:nvSpPr>
          <p:cNvPr id="3" name="Text 1"/>
          <p:cNvSpPr/>
          <p:nvPr/>
        </p:nvSpPr>
        <p:spPr>
          <a:xfrm>
            <a:off x="548640" y="502920"/>
            <a:ext cx="9144000" cy="274320"/>
          </a:xfrm>
          <a:prstGeom prst="rect">
            <a:avLst/>
          </a:prstGeom>
          <a:noFill/>
          <a:ln/>
        </p:spPr>
        <p:txBody>
          <a:bodyPr wrap="square"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PILAR #1: INVENTARIO INTELIGENTE</a:t>
            </a:r>
            <a:endParaRPr lang="en-US" sz="1000" dirty="0"/>
          </a:p>
        </p:txBody>
      </p:sp>
      <p:sp>
        <p:nvSpPr>
          <p:cNvPr id="4" name="Text 2"/>
          <p:cNvSpPr/>
          <p:nvPr/>
        </p:nvSpPr>
        <p:spPr>
          <a:xfrm>
            <a:off x="548640" y="777240"/>
            <a:ext cx="11091672" cy="45720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Gestión de Cuentas Madre, Pantallas y PINs Aislados</a:t>
            </a:r>
            <a:endParaRPr lang="en-US" sz="2200" dirty="0"/>
          </a:p>
        </p:txBody>
      </p:sp>
      <p:sp>
        <p:nvSpPr>
          <p:cNvPr id="5" name="Text 3"/>
          <p:cNvSpPr/>
          <p:nvPr/>
        </p:nvSpPr>
        <p:spPr>
          <a:xfrm>
            <a:off x="548640" y="1234440"/>
            <a:ext cx="11091672"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Control quirúrgico de cada casillero sin cruces de clientes ni accesos no autorizados</a:t>
            </a:r>
            <a:endParaRPr lang="en-US" sz="1200" dirty="0"/>
          </a:p>
        </p:txBody>
      </p:sp>
      <p:sp>
        <p:nvSpPr>
          <p:cNvPr id="6" name="Shape 4"/>
          <p:cNvSpPr/>
          <p:nvPr/>
        </p:nvSpPr>
        <p:spPr>
          <a:xfrm>
            <a:off x="548640" y="1645920"/>
            <a:ext cx="5303520" cy="4480560"/>
          </a:xfrm>
          <a:prstGeom prst="roundRect">
            <a:avLst>
              <a:gd name="adj" fmla="val 2041"/>
            </a:avLst>
          </a:prstGeom>
          <a:solidFill>
            <a:srgbClr val="131D31"/>
          </a:solidFill>
          <a:ln w="19050">
            <a:solidFill>
              <a:srgbClr val="38BDF8"/>
            </a:solidFill>
            <a:prstDash val="solid"/>
          </a:ln>
        </p:spPr>
      </p:sp>
      <p:sp>
        <p:nvSpPr>
          <p:cNvPr id="7" name="Text 5"/>
          <p:cNvSpPr/>
          <p:nvPr/>
        </p:nvSpPr>
        <p:spPr>
          <a:xfrm>
            <a:off x="777240" y="1828800"/>
            <a:ext cx="48463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INVENTARIO PRECISO</a:t>
            </a:r>
            <a:endParaRPr lang="en-US" sz="900" dirty="0"/>
          </a:p>
        </p:txBody>
      </p:sp>
      <p:sp>
        <p:nvSpPr>
          <p:cNvPr id="8" name="Text 6"/>
          <p:cNvSpPr/>
          <p:nvPr/>
        </p:nvSpPr>
        <p:spPr>
          <a:xfrm>
            <a:off x="777240" y="2057400"/>
            <a:ext cx="48463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Cuentas Completas vs. Perfiles Compartidos</a:t>
            </a:r>
            <a:endParaRPr lang="en-US" sz="1300" dirty="0"/>
          </a:p>
        </p:txBody>
      </p:sp>
      <p:sp>
        <p:nvSpPr>
          <p:cNvPr id="9" name="Text 7"/>
          <p:cNvSpPr/>
          <p:nvPr/>
        </p:nvSpPr>
        <p:spPr>
          <a:xfrm>
            <a:off x="777240" y="2423160"/>
            <a:ext cx="48463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Partición de Cuentas Madre: Netflix (4-5 perfiles), Disney+, Max, Prime Video con casilleros aislados y PIN independiente por cliente.</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Asignador Inteligente: El sistema detecta automáticamente si el cliente compra pantalla suelta o cuenta completa y toma el próximo casillero libre.</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Alertas de Vencimiento Mayorista: Te avisa días antes cuando una cuenta madre con tus proveedores está por vencer, protegiendo a todos los clientes que dependen de ella.</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Mapa Visual de Ocupación: Conoce en tiempo real cuántas pantallas están ocupadas, libres o en renovación.</a:t>
            </a:r>
            <a:endParaRPr lang="en-US" sz="1050" dirty="0"/>
          </a:p>
        </p:txBody>
      </p:sp>
      <p:sp>
        <p:nvSpPr>
          <p:cNvPr id="10" name="Shape 8"/>
          <p:cNvSpPr/>
          <p:nvPr/>
        </p:nvSpPr>
        <p:spPr>
          <a:xfrm>
            <a:off x="6126480" y="1645920"/>
            <a:ext cx="5486400" cy="4480560"/>
          </a:xfrm>
          <a:prstGeom prst="roundRect">
            <a:avLst>
              <a:gd name="adj" fmla="val 2041"/>
            </a:avLst>
          </a:prstGeom>
          <a:solidFill>
            <a:srgbClr val="131D31"/>
          </a:solidFill>
          <a:ln w="19050">
            <a:solidFill>
              <a:srgbClr val="10B981"/>
            </a:solidFill>
            <a:prstDash val="solid"/>
          </a:ln>
        </p:spPr>
      </p:sp>
      <p:sp>
        <p:nvSpPr>
          <p:cNvPr id="11" name="Text 9"/>
          <p:cNvSpPr/>
          <p:nvPr/>
        </p:nvSpPr>
        <p:spPr>
          <a:xfrm>
            <a:off x="6355080" y="1828800"/>
            <a:ext cx="502920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IMPACTO EN GANANCIAS</a:t>
            </a:r>
            <a:endParaRPr lang="en-US" sz="900" dirty="0"/>
          </a:p>
        </p:txBody>
      </p:sp>
      <p:sp>
        <p:nvSpPr>
          <p:cNvPr id="12" name="Text 10"/>
          <p:cNvSpPr/>
          <p:nvPr/>
        </p:nvSpPr>
        <p:spPr>
          <a:xfrm>
            <a:off x="6355080" y="2057400"/>
            <a:ext cx="502920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Beneficios Comerciales Inmediatos</a:t>
            </a:r>
            <a:endParaRPr lang="en-US" sz="1300" dirty="0"/>
          </a:p>
        </p:txBody>
      </p:sp>
      <p:sp>
        <p:nvSpPr>
          <p:cNvPr id="13" name="Text 11"/>
          <p:cNvSpPr/>
          <p:nvPr/>
        </p:nvSpPr>
        <p:spPr>
          <a:xfrm>
            <a:off x="6355080" y="2423160"/>
            <a:ext cx="502920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Cero cruces de clientes: Cada cliente solo tiene acceso a su casillero con PIN.</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Maximización de Margen: Vende 4 perfiles a $3.500 c/u de una cuenta que te costó $6.000 = $8.000 de ganancia neta por cuenta.</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Búsqueda Multicriterio Ultrarrápida: Encuentra cualquier cuenta en 1 segundo por correo, PIN, nombre de cliente o ID numérico.</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Carga Masiva CSV: Migra todo tu stock actual de Excel a StreamVault en menos de 2 minutos sin perder datos.</a:t>
            </a:r>
            <a:endParaRPr lang="en-US" sz="1050" dirty="0"/>
          </a:p>
        </p:txBody>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StreamVault v2 • Plataforma de Automatización y CRM para Streaming</a:t>
            </a:r>
            <a:endParaRPr lang="en-US" sz="900" dirty="0"/>
          </a:p>
        </p:txBody>
      </p:sp>
      <p:sp>
        <p:nvSpPr>
          <p:cNvPr id="15" name="Text 13"/>
          <p:cNvSpPr/>
          <p:nvPr/>
        </p:nvSpPr>
        <p:spPr>
          <a:xfrm>
            <a:off x="10515600" y="649224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Slide 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65760"/>
            <a:ext cx="11091672" cy="45720"/>
          </a:xfrm>
          <a:prstGeom prst="rect">
            <a:avLst/>
          </a:prstGeom>
          <a:solidFill>
            <a:srgbClr val="38BDF8"/>
          </a:solidFill>
          <a:ln/>
        </p:spPr>
      </p:sp>
      <p:sp>
        <p:nvSpPr>
          <p:cNvPr id="3" name="Text 1"/>
          <p:cNvSpPr/>
          <p:nvPr/>
        </p:nvSpPr>
        <p:spPr>
          <a:xfrm>
            <a:off x="548640" y="502920"/>
            <a:ext cx="9144000" cy="274320"/>
          </a:xfrm>
          <a:prstGeom prst="rect">
            <a:avLst/>
          </a:prstGeom>
          <a:noFill/>
          <a:ln/>
        </p:spPr>
        <p:txBody>
          <a:bodyPr wrap="square"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PILAR #2: SOPORTE INSTANTÁNEO</a:t>
            </a:r>
            <a:endParaRPr lang="en-US" sz="1000" dirty="0"/>
          </a:p>
        </p:txBody>
      </p:sp>
      <p:sp>
        <p:nvSpPr>
          <p:cNvPr id="4" name="Text 2"/>
          <p:cNvSpPr/>
          <p:nvPr/>
        </p:nvSpPr>
        <p:spPr>
          <a:xfrm>
            <a:off x="548640" y="777240"/>
            <a:ext cx="11091672" cy="45720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Reemplazo en 1 Clic de Cuentas Caídas (Auto-Healing)</a:t>
            </a:r>
            <a:endParaRPr lang="en-US" sz="2200" dirty="0"/>
          </a:p>
        </p:txBody>
      </p:sp>
      <p:sp>
        <p:nvSpPr>
          <p:cNvPr id="5" name="Text 3"/>
          <p:cNvSpPr/>
          <p:nvPr/>
        </p:nvSpPr>
        <p:spPr>
          <a:xfrm>
            <a:off x="548640" y="1234440"/>
            <a:ext cx="11091672"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Convierte el momento de mayor fricción en tu mejor carta de fidelización</a:t>
            </a:r>
            <a:endParaRPr lang="en-US" sz="1200" dirty="0"/>
          </a:p>
        </p:txBody>
      </p:sp>
      <p:sp>
        <p:nvSpPr>
          <p:cNvPr id="6" name="Shape 4"/>
          <p:cNvSpPr/>
          <p:nvPr/>
        </p:nvSpPr>
        <p:spPr>
          <a:xfrm>
            <a:off x="548640" y="1645920"/>
            <a:ext cx="3474720" cy="4480560"/>
          </a:xfrm>
          <a:prstGeom prst="roundRect">
            <a:avLst>
              <a:gd name="adj" fmla="val 2632"/>
            </a:avLst>
          </a:prstGeom>
          <a:solidFill>
            <a:srgbClr val="131D31"/>
          </a:solidFill>
          <a:ln w="19050">
            <a:solidFill>
              <a:srgbClr val="38BDF8"/>
            </a:solidFill>
            <a:prstDash val="solid"/>
          </a:ln>
        </p:spPr>
      </p:sp>
      <p:sp>
        <p:nvSpPr>
          <p:cNvPr id="7" name="Text 5"/>
          <p:cNvSpPr/>
          <p:nvPr/>
        </p:nvSpPr>
        <p:spPr>
          <a:xfrm>
            <a:off x="77724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PASO 1: DETECCIÓN</a:t>
            </a:r>
            <a:endParaRPr lang="en-US" sz="900" dirty="0"/>
          </a:p>
        </p:txBody>
      </p:sp>
      <p:sp>
        <p:nvSpPr>
          <p:cNvPr id="8" name="Text 6"/>
          <p:cNvSpPr/>
          <p:nvPr/>
        </p:nvSpPr>
        <p:spPr>
          <a:xfrm>
            <a:off x="77724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1. El Cliente Reporta</a:t>
            </a:r>
            <a:endParaRPr lang="en-US" sz="1300" dirty="0"/>
          </a:p>
        </p:txBody>
      </p:sp>
      <p:sp>
        <p:nvSpPr>
          <p:cNvPr id="9" name="Text 7"/>
          <p:cNvSpPr/>
          <p:nvPr/>
        </p:nvSpPr>
        <p:spPr>
          <a:xfrm>
            <a:off x="77724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El cliente escribe por WhatsApp 'se cayó mi cuenta' o el comando /caida.</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El bot detecta la plataforma afectada, abre el ticket de soporte #C&lt;ID&gt; y tranquiliza al usuario al instante: 'Tu reclamo ya ingresó al sistema con prioridad'.</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Cero esperas ni mensajes perdidos en el mar de chats.</a:t>
            </a:r>
            <a:endParaRPr lang="en-US" sz="1050" dirty="0"/>
          </a:p>
        </p:txBody>
      </p:sp>
      <p:sp>
        <p:nvSpPr>
          <p:cNvPr id="10" name="Shape 8"/>
          <p:cNvSpPr/>
          <p:nvPr/>
        </p:nvSpPr>
        <p:spPr>
          <a:xfrm>
            <a:off x="4343400" y="1645920"/>
            <a:ext cx="3474720" cy="4480560"/>
          </a:xfrm>
          <a:prstGeom prst="roundRect">
            <a:avLst>
              <a:gd name="adj" fmla="val 2632"/>
            </a:avLst>
          </a:prstGeom>
          <a:solidFill>
            <a:srgbClr val="131D31"/>
          </a:solidFill>
          <a:ln w="19050">
            <a:solidFill>
              <a:srgbClr val="10B981"/>
            </a:solidFill>
            <a:prstDash val="solid"/>
          </a:ln>
        </p:spPr>
      </p:sp>
      <p:sp>
        <p:nvSpPr>
          <p:cNvPr id="11" name="Text 9"/>
          <p:cNvSpPr/>
          <p:nvPr/>
        </p:nvSpPr>
        <p:spPr>
          <a:xfrm>
            <a:off x="457200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PASO 2: EJECUCIÓN</a:t>
            </a:r>
            <a:endParaRPr lang="en-US" sz="900" dirty="0"/>
          </a:p>
        </p:txBody>
      </p:sp>
      <p:sp>
        <p:nvSpPr>
          <p:cNvPr id="12" name="Text 10"/>
          <p:cNvSpPr/>
          <p:nvPr/>
        </p:nvSpPr>
        <p:spPr>
          <a:xfrm>
            <a:off x="457200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2. Reemplazo Automático (1 Clic)</a:t>
            </a:r>
            <a:endParaRPr lang="en-US" sz="1300" dirty="0"/>
          </a:p>
        </p:txBody>
      </p:sp>
      <p:sp>
        <p:nvSpPr>
          <p:cNvPr id="13" name="Text 11"/>
          <p:cNvSpPr/>
          <p:nvPr/>
        </p:nvSpPr>
        <p:spPr>
          <a:xfrm>
            <a:off x="457200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Desde WhatsApp, Telegram o Chatwoot ejecutas /caida o pulsas el botón 'Reemplazar'.</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StreamVault extrae automáticamente una cuenta libre del stock disponible.</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Asigna la nueva cuenta al cliente MANTENIENDO EXACTA su fecha de vencimiento original (sin regalar días ni cobrar de más).</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Marca la cuenta dañada para revisión.</a:t>
            </a:r>
            <a:endParaRPr lang="en-US" sz="1050" dirty="0"/>
          </a:p>
        </p:txBody>
      </p:sp>
      <p:sp>
        <p:nvSpPr>
          <p:cNvPr id="14" name="Shape 12"/>
          <p:cNvSpPr/>
          <p:nvPr/>
        </p:nvSpPr>
        <p:spPr>
          <a:xfrm>
            <a:off x="8138160" y="1645920"/>
            <a:ext cx="3474720" cy="4480560"/>
          </a:xfrm>
          <a:prstGeom prst="roundRect">
            <a:avLst>
              <a:gd name="adj" fmla="val 2632"/>
            </a:avLst>
          </a:prstGeom>
          <a:solidFill>
            <a:srgbClr val="131D31"/>
          </a:solidFill>
          <a:ln w="19050">
            <a:solidFill>
              <a:srgbClr val="38BDF8"/>
            </a:solidFill>
            <a:prstDash val="solid"/>
          </a:ln>
        </p:spPr>
      </p:sp>
      <p:sp>
        <p:nvSpPr>
          <p:cNvPr id="15" name="Text 13"/>
          <p:cNvSpPr/>
          <p:nvPr/>
        </p:nvSpPr>
        <p:spPr>
          <a:xfrm>
            <a:off x="836676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PASO 3: RESOLUCIÓN</a:t>
            </a:r>
            <a:endParaRPr lang="en-US" sz="900" dirty="0"/>
          </a:p>
        </p:txBody>
      </p:sp>
      <p:sp>
        <p:nvSpPr>
          <p:cNvPr id="16" name="Text 14"/>
          <p:cNvSpPr/>
          <p:nvPr/>
        </p:nvSpPr>
        <p:spPr>
          <a:xfrm>
            <a:off x="836676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3. Notificación Inmediata</a:t>
            </a:r>
            <a:endParaRPr lang="en-US" sz="1300" dirty="0"/>
          </a:p>
        </p:txBody>
      </p:sp>
      <p:sp>
        <p:nvSpPr>
          <p:cNvPr id="17" name="Text 15"/>
          <p:cNvSpPr/>
          <p:nvPr/>
        </p:nvSpPr>
        <p:spPr>
          <a:xfrm>
            <a:off x="836676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El cliente recibe en su WhatsApp el mensaje con el nuevo correo, contraseña y PIN listo para usar.</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Tiempo total: De 30 minutos a solo 4 segundos.</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El cliente queda asombrado con la velocidad del soporte y renueva mes a mes sin dudarlo.</a:t>
            </a:r>
            <a:endParaRPr lang="en-US" sz="1050" dirty="0"/>
          </a:p>
        </p:txBody>
      </p:sp>
      <p:sp>
        <p:nvSpPr>
          <p:cNvPr id="18" name="Text 16"/>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StreamVault v2 • Plataforma de Automatización y CRM para Streaming</a:t>
            </a:r>
            <a:endParaRPr lang="en-US" sz="900" dirty="0"/>
          </a:p>
        </p:txBody>
      </p:sp>
      <p:sp>
        <p:nvSpPr>
          <p:cNvPr id="19" name="Text 17"/>
          <p:cNvSpPr/>
          <p:nvPr/>
        </p:nvSpPr>
        <p:spPr>
          <a:xfrm>
            <a:off x="10515600" y="649224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Slide 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65760"/>
            <a:ext cx="11091672" cy="45720"/>
          </a:xfrm>
          <a:prstGeom prst="rect">
            <a:avLst/>
          </a:prstGeom>
          <a:solidFill>
            <a:srgbClr val="38BDF8"/>
          </a:solidFill>
          <a:ln/>
        </p:spPr>
      </p:sp>
      <p:sp>
        <p:nvSpPr>
          <p:cNvPr id="3" name="Text 1"/>
          <p:cNvSpPr/>
          <p:nvPr/>
        </p:nvSpPr>
        <p:spPr>
          <a:xfrm>
            <a:off x="548640" y="502920"/>
            <a:ext cx="9144000" cy="274320"/>
          </a:xfrm>
          <a:prstGeom prst="rect">
            <a:avLst/>
          </a:prstGeom>
          <a:noFill/>
          <a:ln/>
        </p:spPr>
        <p:txBody>
          <a:bodyPr wrap="square"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PILAR #3: SEGURIDAD FINANCIERA</a:t>
            </a:r>
            <a:endParaRPr lang="en-US" sz="1000" dirty="0"/>
          </a:p>
        </p:txBody>
      </p:sp>
      <p:sp>
        <p:nvSpPr>
          <p:cNvPr id="4" name="Text 2"/>
          <p:cNvSpPr/>
          <p:nvPr/>
        </p:nvSpPr>
        <p:spPr>
          <a:xfrm>
            <a:off x="548640" y="777240"/>
            <a:ext cx="11091672" cy="45720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Motor Anti-Fraude con Inteligencia Artificial (Gemini + OCR + pHash)</a:t>
            </a:r>
            <a:endParaRPr lang="en-US" sz="2200" dirty="0"/>
          </a:p>
        </p:txBody>
      </p:sp>
      <p:sp>
        <p:nvSpPr>
          <p:cNvPr id="5" name="Text 3"/>
          <p:cNvSpPr/>
          <p:nvPr/>
        </p:nvSpPr>
        <p:spPr>
          <a:xfrm>
            <a:off x="548640" y="1234440"/>
            <a:ext cx="11091672"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Cero comprobantes falsos, cero comprobantes reciclados, cero dinero perdido</a:t>
            </a:r>
            <a:endParaRPr lang="en-US" sz="1200" dirty="0"/>
          </a:p>
        </p:txBody>
      </p:sp>
      <p:sp>
        <p:nvSpPr>
          <p:cNvPr id="6" name="Shape 4"/>
          <p:cNvSpPr/>
          <p:nvPr/>
        </p:nvSpPr>
        <p:spPr>
          <a:xfrm>
            <a:off x="548640" y="1645920"/>
            <a:ext cx="5303520" cy="4480560"/>
          </a:xfrm>
          <a:prstGeom prst="roundRect">
            <a:avLst>
              <a:gd name="adj" fmla="val 2041"/>
            </a:avLst>
          </a:prstGeom>
          <a:solidFill>
            <a:srgbClr val="131D31"/>
          </a:solidFill>
          <a:ln w="19050">
            <a:solidFill>
              <a:srgbClr val="EF4444"/>
            </a:solidFill>
            <a:prstDash val="solid"/>
          </a:ln>
        </p:spPr>
      </p:sp>
      <p:sp>
        <p:nvSpPr>
          <p:cNvPr id="7" name="Text 5"/>
          <p:cNvSpPr/>
          <p:nvPr/>
        </p:nvSpPr>
        <p:spPr>
          <a:xfrm>
            <a:off x="777240" y="1828800"/>
            <a:ext cx="48463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TECNOLOGÍA DE VANGUARDIA</a:t>
            </a:r>
            <a:endParaRPr lang="en-US" sz="900" dirty="0"/>
          </a:p>
        </p:txBody>
      </p:sp>
      <p:sp>
        <p:nvSpPr>
          <p:cNvPr id="8" name="Text 6"/>
          <p:cNvSpPr/>
          <p:nvPr/>
        </p:nvSpPr>
        <p:spPr>
          <a:xfrm>
            <a:off x="777240" y="2057400"/>
            <a:ext cx="48463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Cómo Funciona la Detección Inteligente</a:t>
            </a:r>
            <a:endParaRPr lang="en-US" sz="1300" dirty="0"/>
          </a:p>
        </p:txBody>
      </p:sp>
      <p:sp>
        <p:nvSpPr>
          <p:cNvPr id="9" name="Text 7"/>
          <p:cNvSpPr/>
          <p:nvPr/>
        </p:nvSpPr>
        <p:spPr>
          <a:xfrm>
            <a:off x="777240" y="2423160"/>
            <a:ext cx="48463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Visión Multimodal con IA (Gemini Vision + OCR Local):</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El cliente envía una captura de transferencia por WhatsApp. El bot lee banco, CBU, monto, titular, fecha e identificador de operación en 2 segundos.</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Algoritmo Perceptual pHash (Anti-Reciclado):</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Analiza la estructura visual de la imagen. Si el cliente recorta, oscurece o edita en Photoshop un comprobante viejo, el sistema detecta la distancia de coincidencia y lo bloquea.</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Validación de ID de Operación Único:</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Si un identificador bancario ya fue aprobado en el pasado, dispara una ALERTA ROJA de emergencia en Telegram y bloquea la acreditación automática.</a:t>
            </a:r>
            <a:endParaRPr lang="en-US" sz="1050" dirty="0"/>
          </a:p>
        </p:txBody>
      </p:sp>
      <p:sp>
        <p:nvSpPr>
          <p:cNvPr id="10" name="Shape 8"/>
          <p:cNvSpPr/>
          <p:nvPr/>
        </p:nvSpPr>
        <p:spPr>
          <a:xfrm>
            <a:off x="6126480" y="1645920"/>
            <a:ext cx="5486400" cy="4480560"/>
          </a:xfrm>
          <a:prstGeom prst="roundRect">
            <a:avLst>
              <a:gd name="adj" fmla="val 2041"/>
            </a:avLst>
          </a:prstGeom>
          <a:solidFill>
            <a:srgbClr val="131D31"/>
          </a:solidFill>
          <a:ln w="19050">
            <a:solidFill>
              <a:srgbClr val="10B981"/>
            </a:solidFill>
            <a:prstDash val="solid"/>
          </a:ln>
        </p:spPr>
      </p:sp>
      <p:sp>
        <p:nvSpPr>
          <p:cNvPr id="11" name="Text 9"/>
          <p:cNvSpPr/>
          <p:nvPr/>
        </p:nvSpPr>
        <p:spPr>
          <a:xfrm>
            <a:off x="6355080" y="1828800"/>
            <a:ext cx="502920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CONTROL Y CONFIANZA</a:t>
            </a:r>
            <a:endParaRPr lang="en-US" sz="900" dirty="0"/>
          </a:p>
        </p:txBody>
      </p:sp>
      <p:sp>
        <p:nvSpPr>
          <p:cNvPr id="12" name="Text 10"/>
          <p:cNvSpPr/>
          <p:nvPr/>
        </p:nvSpPr>
        <p:spPr>
          <a:xfrm>
            <a:off x="6355080" y="2057400"/>
            <a:ext cx="502920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Aprobación y Acreditación en 1 Toque</a:t>
            </a:r>
            <a:endParaRPr lang="en-US" sz="1300" dirty="0"/>
          </a:p>
        </p:txBody>
      </p:sp>
      <p:sp>
        <p:nvSpPr>
          <p:cNvPr id="13" name="Text 11"/>
          <p:cNvSpPr/>
          <p:nvPr/>
        </p:nvSpPr>
        <p:spPr>
          <a:xfrm>
            <a:off x="6355080" y="2423160"/>
            <a:ext cx="502920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Validación Instantánea: El operador revisa la tarjeta en Telegram o Web con la imagen ampliada y los datos extraídos por IA.</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1 Clic para Renovar: Al pulsar 'Aprobar', el sistema renueva la cuenta por +30 días, asienta el ingreso en el balance financiero y envía confirmación con sticker y emoji por WhatsApp.</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Reversión Contable Protegida: Si te equivocas, dispones de /revertir_pago para restaurar el vencimiento anterior sin romper la contabilidad.</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Ahorro Comprobado: Evita pérdidas promedio de más de $50.000 ARS al mes en transferencias falsas.</a:t>
            </a:r>
            <a:endParaRPr lang="en-US" sz="1050" dirty="0"/>
          </a:p>
        </p:txBody>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StreamVault v2 • Plataforma de Automatización y CRM para Streaming</a:t>
            </a:r>
            <a:endParaRPr lang="en-US" sz="900" dirty="0"/>
          </a:p>
        </p:txBody>
      </p:sp>
      <p:sp>
        <p:nvSpPr>
          <p:cNvPr id="15" name="Text 13"/>
          <p:cNvSpPr/>
          <p:nvPr/>
        </p:nvSpPr>
        <p:spPr>
          <a:xfrm>
            <a:off x="10515600" y="649224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Slide 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65760"/>
            <a:ext cx="11091672" cy="45720"/>
          </a:xfrm>
          <a:prstGeom prst="rect">
            <a:avLst/>
          </a:prstGeom>
          <a:solidFill>
            <a:srgbClr val="38BDF8"/>
          </a:solidFill>
          <a:ln/>
        </p:spPr>
      </p:sp>
      <p:sp>
        <p:nvSpPr>
          <p:cNvPr id="3" name="Text 1"/>
          <p:cNvSpPr/>
          <p:nvPr/>
        </p:nvSpPr>
        <p:spPr>
          <a:xfrm>
            <a:off x="548640" y="502920"/>
            <a:ext cx="9144000" cy="274320"/>
          </a:xfrm>
          <a:prstGeom prst="rect">
            <a:avLst/>
          </a:prstGeom>
          <a:noFill/>
          <a:ln/>
        </p:spPr>
        <p:txBody>
          <a:bodyPr wrap="square"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PILAR #4: AUTOMATIZACIÓN DE COBROS</a:t>
            </a:r>
            <a:endParaRPr lang="en-US" sz="1000" dirty="0"/>
          </a:p>
        </p:txBody>
      </p:sp>
      <p:sp>
        <p:nvSpPr>
          <p:cNvPr id="4" name="Text 2"/>
          <p:cNvSpPr/>
          <p:nvPr/>
        </p:nvSpPr>
        <p:spPr>
          <a:xfrm>
            <a:off x="548640" y="777240"/>
            <a:ext cx="11091672" cy="45720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Cron Scheduler Humanizado y Liquidaciones Agrupadas</a:t>
            </a:r>
            <a:endParaRPr lang="en-US" sz="2200" dirty="0"/>
          </a:p>
        </p:txBody>
      </p:sp>
      <p:sp>
        <p:nvSpPr>
          <p:cNvPr id="5" name="Text 3"/>
          <p:cNvSpPr/>
          <p:nvPr/>
        </p:nvSpPr>
        <p:spPr>
          <a:xfrm>
            <a:off x="548640" y="1234440"/>
            <a:ext cx="11091672"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Asegura que todos tus clientes paguen a tiempo sin poner en riesgo tu línea de WhatsApp</a:t>
            </a:r>
            <a:endParaRPr lang="en-US" sz="1200" dirty="0"/>
          </a:p>
        </p:txBody>
      </p:sp>
      <p:sp>
        <p:nvSpPr>
          <p:cNvPr id="6" name="Shape 4"/>
          <p:cNvSpPr/>
          <p:nvPr/>
        </p:nvSpPr>
        <p:spPr>
          <a:xfrm>
            <a:off x="548640" y="1645920"/>
            <a:ext cx="3474720" cy="4480560"/>
          </a:xfrm>
          <a:prstGeom prst="roundRect">
            <a:avLst>
              <a:gd name="adj" fmla="val 2632"/>
            </a:avLst>
          </a:prstGeom>
          <a:solidFill>
            <a:srgbClr val="131D31"/>
          </a:solidFill>
          <a:ln w="19050">
            <a:solidFill>
              <a:srgbClr val="38BDF8"/>
            </a:solidFill>
            <a:prstDash val="solid"/>
          </a:ln>
        </p:spPr>
      </p:sp>
      <p:sp>
        <p:nvSpPr>
          <p:cNvPr id="7" name="Text 5"/>
          <p:cNvSpPr/>
          <p:nvPr/>
        </p:nvSpPr>
        <p:spPr>
          <a:xfrm>
            <a:off x="77724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CADENCIA DE COBRO</a:t>
            </a:r>
            <a:endParaRPr lang="en-US" sz="900" dirty="0"/>
          </a:p>
        </p:txBody>
      </p:sp>
      <p:sp>
        <p:nvSpPr>
          <p:cNvPr id="8" name="Text 6"/>
          <p:cNvSpPr/>
          <p:nvPr/>
        </p:nvSpPr>
        <p:spPr>
          <a:xfrm>
            <a:off x="77724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Cadencia Preventiva Estratégica</a:t>
            </a:r>
            <a:endParaRPr lang="en-US" sz="1300" dirty="0"/>
          </a:p>
        </p:txBody>
      </p:sp>
      <p:sp>
        <p:nvSpPr>
          <p:cNvPr id="9" name="Text 7"/>
          <p:cNvSpPr/>
          <p:nvPr/>
        </p:nvSpPr>
        <p:spPr>
          <a:xfrm>
            <a:off x="77724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Aviso T-5 Días: Recordatorio cordial para que el cliente programe su renovación.</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Aviso T-2 Días: Alerta prioritaria con los datos de transferencia y botón rápido.</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Aviso T-0 (Día Vence): Notificación definitiva por la mañana.</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Aviso de Corte: Avisa al cliente que su servicio fue pausado e instruye al admin a rotar la clave.</a:t>
            </a:r>
            <a:endParaRPr lang="en-US" sz="1050" dirty="0"/>
          </a:p>
        </p:txBody>
      </p:sp>
      <p:sp>
        <p:nvSpPr>
          <p:cNvPr id="10" name="Shape 8"/>
          <p:cNvSpPr/>
          <p:nvPr/>
        </p:nvSpPr>
        <p:spPr>
          <a:xfrm>
            <a:off x="4343400" y="1645920"/>
            <a:ext cx="3474720" cy="4480560"/>
          </a:xfrm>
          <a:prstGeom prst="roundRect">
            <a:avLst>
              <a:gd name="adj" fmla="val 2632"/>
            </a:avLst>
          </a:prstGeom>
          <a:solidFill>
            <a:srgbClr val="131D31"/>
          </a:solidFill>
          <a:ln w="19050">
            <a:solidFill>
              <a:srgbClr val="10B981"/>
            </a:solidFill>
            <a:prstDash val="solid"/>
          </a:ln>
        </p:spPr>
      </p:sp>
      <p:sp>
        <p:nvSpPr>
          <p:cNvPr id="11" name="Text 9"/>
          <p:cNvSpPr/>
          <p:nvPr/>
        </p:nvSpPr>
        <p:spPr>
          <a:xfrm>
            <a:off x="457200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COBRO CONSOLIDADO</a:t>
            </a:r>
            <a:endParaRPr lang="en-US" sz="900" dirty="0"/>
          </a:p>
        </p:txBody>
      </p:sp>
      <p:sp>
        <p:nvSpPr>
          <p:cNvPr id="12" name="Text 10"/>
          <p:cNvSpPr/>
          <p:nvPr/>
        </p:nvSpPr>
        <p:spPr>
          <a:xfrm>
            <a:off x="457200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Liquidación Agrupada Multicuenta</a:t>
            </a:r>
            <a:endParaRPr lang="en-US" sz="1300" dirty="0"/>
          </a:p>
        </p:txBody>
      </p:sp>
      <p:sp>
        <p:nvSpPr>
          <p:cNvPr id="13" name="Text 11"/>
          <p:cNvSpPr/>
          <p:nvPr/>
        </p:nvSpPr>
        <p:spPr>
          <a:xfrm>
            <a:off x="457200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¿Tu cliente tiene Netflix, Disney+ y una pantalla de Max?</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En vez de bombardearlo con 3 mensajes separados, StreamVault UNIFICA todas sus suscripciones en un único aviso consolidado.</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Informa el detalle de cada pantalla y el monto TOTAL exacto a transferir.</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Experiencia de compra ejecutiva y prolija.</a:t>
            </a:r>
            <a:endParaRPr lang="en-US" sz="1050" dirty="0"/>
          </a:p>
        </p:txBody>
      </p:sp>
      <p:sp>
        <p:nvSpPr>
          <p:cNvPr id="14" name="Shape 12"/>
          <p:cNvSpPr/>
          <p:nvPr/>
        </p:nvSpPr>
        <p:spPr>
          <a:xfrm>
            <a:off x="8138160" y="1645920"/>
            <a:ext cx="3474720" cy="4480560"/>
          </a:xfrm>
          <a:prstGeom prst="roundRect">
            <a:avLst>
              <a:gd name="adj" fmla="val 2632"/>
            </a:avLst>
          </a:prstGeom>
          <a:solidFill>
            <a:srgbClr val="131D31"/>
          </a:solidFill>
          <a:ln w="19050">
            <a:solidFill>
              <a:srgbClr val="F59E0B"/>
            </a:solidFill>
            <a:prstDash val="solid"/>
          </a:ln>
        </p:spPr>
      </p:sp>
      <p:sp>
        <p:nvSpPr>
          <p:cNvPr id="15" name="Text 13"/>
          <p:cNvSpPr/>
          <p:nvPr/>
        </p:nvSpPr>
        <p:spPr>
          <a:xfrm>
            <a:off x="836676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SEGURIDAD WHATSAPP</a:t>
            </a:r>
            <a:endParaRPr lang="en-US" sz="900" dirty="0"/>
          </a:p>
        </p:txBody>
      </p:sp>
      <p:sp>
        <p:nvSpPr>
          <p:cNvPr id="16" name="Text 14"/>
          <p:cNvSpPr/>
          <p:nvPr/>
        </p:nvSpPr>
        <p:spPr>
          <a:xfrm>
            <a:off x="836676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Blindaje Anti-Baneo de WhatsApp</a:t>
            </a:r>
            <a:endParaRPr lang="en-US" sz="1300" dirty="0"/>
          </a:p>
        </p:txBody>
      </p:sp>
      <p:sp>
        <p:nvSpPr>
          <p:cNvPr id="17" name="Text 15"/>
          <p:cNvSpPr/>
          <p:nvPr/>
        </p:nvSpPr>
        <p:spPr>
          <a:xfrm>
            <a:off x="836676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Delays Aleatorios: Tiempos de espera variables entre cada mensaje para simular comportamiento humano.</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Simulación de Tipeo ('Escribiendo...'): Activa presencia en WhatsApp antes de enviar.</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Rotación de Textos: Variaciones dinámicas de saludo y despedida para no disparar filtros de spam de Meta.</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Tu línea de ventas 100% segura.</a:t>
            </a:r>
            <a:endParaRPr lang="en-US" sz="1050" dirty="0"/>
          </a:p>
        </p:txBody>
      </p:sp>
      <p:sp>
        <p:nvSpPr>
          <p:cNvPr id="18" name="Text 16"/>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StreamVault v2 • Plataforma de Automatización y CRM para Streaming</a:t>
            </a:r>
            <a:endParaRPr lang="en-US" sz="900" dirty="0"/>
          </a:p>
        </p:txBody>
      </p:sp>
      <p:sp>
        <p:nvSpPr>
          <p:cNvPr id="19" name="Text 17"/>
          <p:cNvSpPr/>
          <p:nvPr/>
        </p:nvSpPr>
        <p:spPr>
          <a:xfrm>
            <a:off x="10515600" y="649224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Slide 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65760"/>
            <a:ext cx="11091672" cy="45720"/>
          </a:xfrm>
          <a:prstGeom prst="rect">
            <a:avLst/>
          </a:prstGeom>
          <a:solidFill>
            <a:srgbClr val="38BDF8"/>
          </a:solidFill>
          <a:ln/>
        </p:spPr>
      </p:sp>
      <p:sp>
        <p:nvSpPr>
          <p:cNvPr id="3" name="Text 1"/>
          <p:cNvSpPr/>
          <p:nvPr/>
        </p:nvSpPr>
        <p:spPr>
          <a:xfrm>
            <a:off x="548640" y="502920"/>
            <a:ext cx="9144000" cy="274320"/>
          </a:xfrm>
          <a:prstGeom prst="rect">
            <a:avLst/>
          </a:prstGeom>
          <a:noFill/>
          <a:ln/>
        </p:spPr>
        <p:txBody>
          <a:bodyPr wrap="square"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PILAR #5: EXPERIENCIA DEL CLIENTE</a:t>
            </a:r>
            <a:endParaRPr lang="en-US" sz="1000" dirty="0"/>
          </a:p>
        </p:txBody>
      </p:sp>
      <p:sp>
        <p:nvSpPr>
          <p:cNvPr id="4" name="Text 2"/>
          <p:cNvSpPr/>
          <p:nvPr/>
        </p:nvSpPr>
        <p:spPr>
          <a:xfrm>
            <a:off x="548640" y="777240"/>
            <a:ext cx="11091672" cy="45720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Atención WhatsApp con Reacciones, Stickers y VCard Oficial</a:t>
            </a:r>
            <a:endParaRPr lang="en-US" sz="2200" dirty="0"/>
          </a:p>
        </p:txBody>
      </p:sp>
      <p:sp>
        <p:nvSpPr>
          <p:cNvPr id="5" name="Text 3"/>
          <p:cNvSpPr/>
          <p:nvPr/>
        </p:nvSpPr>
        <p:spPr>
          <a:xfrm>
            <a:off x="548640" y="1234440"/>
            <a:ext cx="11091672"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Tecnología WPPConnect + Evolution API para una experiencia premium y cercana</a:t>
            </a:r>
            <a:endParaRPr lang="en-US" sz="1200" dirty="0"/>
          </a:p>
        </p:txBody>
      </p:sp>
      <p:sp>
        <p:nvSpPr>
          <p:cNvPr id="6" name="Shape 4"/>
          <p:cNvSpPr/>
          <p:nvPr/>
        </p:nvSpPr>
        <p:spPr>
          <a:xfrm>
            <a:off x="548640" y="1645920"/>
            <a:ext cx="2606040" cy="4480560"/>
          </a:xfrm>
          <a:prstGeom prst="roundRect">
            <a:avLst>
              <a:gd name="adj" fmla="val 3509"/>
            </a:avLst>
          </a:prstGeom>
          <a:solidFill>
            <a:srgbClr val="131D31"/>
          </a:solidFill>
          <a:ln w="19050">
            <a:solidFill>
              <a:srgbClr val="38BDF8"/>
            </a:solidFill>
            <a:prstDash val="solid"/>
          </a:ln>
        </p:spPr>
      </p:sp>
      <p:sp>
        <p:nvSpPr>
          <p:cNvPr id="7" name="Text 5"/>
          <p:cNvSpPr/>
          <p:nvPr/>
        </p:nvSpPr>
        <p:spPr>
          <a:xfrm>
            <a:off x="777240" y="1828800"/>
            <a:ext cx="214884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REACCIONES / EMOJIS</a:t>
            </a:r>
            <a:endParaRPr lang="en-US" sz="900" dirty="0"/>
          </a:p>
        </p:txBody>
      </p:sp>
      <p:sp>
        <p:nvSpPr>
          <p:cNvPr id="8" name="Text 6"/>
          <p:cNvSpPr/>
          <p:nvPr/>
        </p:nvSpPr>
        <p:spPr>
          <a:xfrm>
            <a:off x="777240" y="2057400"/>
            <a:ext cx="214884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Reacciones en Tiempo Real</a:t>
            </a:r>
            <a:endParaRPr lang="en-US" sz="1300" dirty="0"/>
          </a:p>
        </p:txBody>
      </p:sp>
      <p:sp>
        <p:nvSpPr>
          <p:cNvPr id="9" name="Text 7"/>
          <p:cNvSpPr/>
          <p:nvPr/>
        </p:nvSpPr>
        <p:spPr>
          <a:xfrm>
            <a:off x="777240" y="2423160"/>
            <a:ext cx="214884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 Reloj de espera: En cuanto el cliente envía un comprobante, el bot reacciona automáticamente con ⏳ en su mensaje.</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 Tilde verde: Al aprobar la transferencia, el bot cambia la reacción a ✅.</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 Cruz roja: Si el comprobante es denegado, reacciona con ❌.</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Feedback visual instantáneo sin saturar de texto.</a:t>
            </a:r>
            <a:endParaRPr lang="en-US" sz="1050" dirty="0"/>
          </a:p>
        </p:txBody>
      </p:sp>
      <p:sp>
        <p:nvSpPr>
          <p:cNvPr id="10" name="Shape 8"/>
          <p:cNvSpPr/>
          <p:nvPr/>
        </p:nvSpPr>
        <p:spPr>
          <a:xfrm>
            <a:off x="3383280" y="1645920"/>
            <a:ext cx="2606040" cy="4480560"/>
          </a:xfrm>
          <a:prstGeom prst="roundRect">
            <a:avLst>
              <a:gd name="adj" fmla="val 3509"/>
            </a:avLst>
          </a:prstGeom>
          <a:solidFill>
            <a:srgbClr val="131D31"/>
          </a:solidFill>
          <a:ln w="19050">
            <a:solidFill>
              <a:srgbClr val="10B981"/>
            </a:solidFill>
            <a:prstDash val="solid"/>
          </a:ln>
        </p:spPr>
      </p:sp>
      <p:sp>
        <p:nvSpPr>
          <p:cNvPr id="11" name="Text 9"/>
          <p:cNvSpPr/>
          <p:nvPr/>
        </p:nvSpPr>
        <p:spPr>
          <a:xfrm>
            <a:off x="3611880" y="1828800"/>
            <a:ext cx="214884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MARCAR VISTO</a:t>
            </a:r>
            <a:endParaRPr lang="en-US" sz="900" dirty="0"/>
          </a:p>
        </p:txBody>
      </p:sp>
      <p:sp>
        <p:nvSpPr>
          <p:cNvPr id="12" name="Text 10"/>
          <p:cNvSpPr/>
          <p:nvPr/>
        </p:nvSpPr>
        <p:spPr>
          <a:xfrm>
            <a:off x="3611880" y="2057400"/>
            <a:ext cx="214884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Doble Tilde Azul Inmediato</a:t>
            </a:r>
            <a:endParaRPr lang="en-US" sz="1300" dirty="0"/>
          </a:p>
        </p:txBody>
      </p:sp>
      <p:sp>
        <p:nvSpPr>
          <p:cNvPr id="13" name="Text 11"/>
          <p:cNvSpPr/>
          <p:nvPr/>
        </p:nvSpPr>
        <p:spPr>
          <a:xfrm>
            <a:off x="3611880" y="2423160"/>
            <a:ext cx="214884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Lectura Automática (sendSeen): En cuanto entra cualquier mensaje o reclamo, el bot marca 'visto' de inmediato.</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Genera tranquilidad absoluta: el cliente sabe que su mensaje no se perdió.</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Elimina la ansiedad del comprador y reduce la duplicación de consultas.</a:t>
            </a:r>
            <a:endParaRPr lang="en-US" sz="1050" dirty="0"/>
          </a:p>
        </p:txBody>
      </p:sp>
      <p:sp>
        <p:nvSpPr>
          <p:cNvPr id="14" name="Shape 12"/>
          <p:cNvSpPr/>
          <p:nvPr/>
        </p:nvSpPr>
        <p:spPr>
          <a:xfrm>
            <a:off x="6217920" y="1645920"/>
            <a:ext cx="2606040" cy="4480560"/>
          </a:xfrm>
          <a:prstGeom prst="roundRect">
            <a:avLst>
              <a:gd name="adj" fmla="val 3509"/>
            </a:avLst>
          </a:prstGeom>
          <a:solidFill>
            <a:srgbClr val="131D31"/>
          </a:solidFill>
          <a:ln w="19050">
            <a:solidFill>
              <a:srgbClr val="38BDF8"/>
            </a:solidFill>
            <a:prstDash val="solid"/>
          </a:ln>
        </p:spPr>
      </p:sp>
      <p:sp>
        <p:nvSpPr>
          <p:cNvPr id="15" name="Text 13"/>
          <p:cNvSpPr/>
          <p:nvPr/>
        </p:nvSpPr>
        <p:spPr>
          <a:xfrm>
            <a:off x="6446520" y="1828800"/>
            <a:ext cx="214884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TARJETA VCARD</a:t>
            </a:r>
            <a:endParaRPr lang="en-US" sz="900" dirty="0"/>
          </a:p>
        </p:txBody>
      </p:sp>
      <p:sp>
        <p:nvSpPr>
          <p:cNvPr id="16" name="Text 14"/>
          <p:cNvSpPr/>
          <p:nvPr/>
        </p:nvSpPr>
        <p:spPr>
          <a:xfrm>
            <a:off x="6446520" y="2057400"/>
            <a:ext cx="214884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Tarjeta de Contacto VCard</a:t>
            </a:r>
            <a:endParaRPr lang="en-US" sz="1300" dirty="0"/>
          </a:p>
        </p:txBody>
      </p:sp>
      <p:sp>
        <p:nvSpPr>
          <p:cNvPr id="17" name="Text 15"/>
          <p:cNvSpPr/>
          <p:nvPr/>
        </p:nvSpPr>
        <p:spPr>
          <a:xfrm>
            <a:off x="6446520" y="2423160"/>
            <a:ext cx="214884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Envío Oficial de Contacto: El bot envía una VCard interactiva con el número y nombre del negocio.</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Con 1 solo toque el cliente añade el contacto a su libreta telefónica.</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Blindaje Anti-Spam: Al tener tu número agendado, WhatsApp nunca reporta tus mensajes como spam.</a:t>
            </a:r>
            <a:endParaRPr lang="en-US" sz="1050" dirty="0"/>
          </a:p>
        </p:txBody>
      </p:sp>
      <p:sp>
        <p:nvSpPr>
          <p:cNvPr id="18" name="Shape 16"/>
          <p:cNvSpPr/>
          <p:nvPr/>
        </p:nvSpPr>
        <p:spPr>
          <a:xfrm>
            <a:off x="9052560" y="1645920"/>
            <a:ext cx="2606040" cy="4480560"/>
          </a:xfrm>
          <a:prstGeom prst="roundRect">
            <a:avLst>
              <a:gd name="adj" fmla="val 3509"/>
            </a:avLst>
          </a:prstGeom>
          <a:solidFill>
            <a:srgbClr val="131D31"/>
          </a:solidFill>
          <a:ln w="19050">
            <a:solidFill>
              <a:srgbClr val="818CF8"/>
            </a:solidFill>
            <a:prstDash val="solid"/>
          </a:ln>
        </p:spPr>
      </p:sp>
      <p:sp>
        <p:nvSpPr>
          <p:cNvPr id="19" name="Text 17"/>
          <p:cNvSpPr/>
          <p:nvPr/>
        </p:nvSpPr>
        <p:spPr>
          <a:xfrm>
            <a:off x="9281160" y="1828800"/>
            <a:ext cx="214884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STICKERS ANIMADOS</a:t>
            </a:r>
            <a:endParaRPr lang="en-US" sz="900" dirty="0"/>
          </a:p>
        </p:txBody>
      </p:sp>
      <p:sp>
        <p:nvSpPr>
          <p:cNvPr id="20" name="Text 18"/>
          <p:cNvSpPr/>
          <p:nvPr/>
        </p:nvSpPr>
        <p:spPr>
          <a:xfrm>
            <a:off x="9281160" y="2057400"/>
            <a:ext cx="214884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Stickers de Fidelización</a:t>
            </a:r>
            <a:endParaRPr lang="en-US" sz="1300" dirty="0"/>
          </a:p>
        </p:txBody>
      </p:sp>
      <p:sp>
        <p:nvSpPr>
          <p:cNvPr id="21" name="Text 19"/>
          <p:cNvSpPr/>
          <p:nvPr/>
        </p:nvSpPr>
        <p:spPr>
          <a:xfrm>
            <a:off x="9281160" y="2423160"/>
            <a:ext cx="214884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Stickers WebP personalizados con la marca de tu negocio.</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'¡Pago Confirmado!', '¡Bienvenido al Servicio!', '¡Gracias por tu Confianza!'.</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Genera una conexión emocional y una imagen de marca que ningún competidor informal puede igualar.</a:t>
            </a:r>
            <a:endParaRPr lang="en-US" sz="1050" dirty="0"/>
          </a:p>
        </p:txBody>
      </p:sp>
      <p:sp>
        <p:nvSpPr>
          <p:cNvPr id="22" name="Text 20"/>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StreamVault v2 • Plataforma de Automatización y CRM para Streaming</a:t>
            </a:r>
            <a:endParaRPr lang="en-US" sz="900" dirty="0"/>
          </a:p>
        </p:txBody>
      </p:sp>
      <p:sp>
        <p:nvSpPr>
          <p:cNvPr id="23" name="Text 21"/>
          <p:cNvSpPr/>
          <p:nvPr/>
        </p:nvSpPr>
        <p:spPr>
          <a:xfrm>
            <a:off x="10515600" y="649224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Slide 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65760"/>
            <a:ext cx="11091672" cy="45720"/>
          </a:xfrm>
          <a:prstGeom prst="rect">
            <a:avLst/>
          </a:prstGeom>
          <a:solidFill>
            <a:srgbClr val="38BDF8"/>
          </a:solidFill>
          <a:ln/>
        </p:spPr>
      </p:sp>
      <p:sp>
        <p:nvSpPr>
          <p:cNvPr id="3" name="Text 1"/>
          <p:cNvSpPr/>
          <p:nvPr/>
        </p:nvSpPr>
        <p:spPr>
          <a:xfrm>
            <a:off x="548640" y="502920"/>
            <a:ext cx="9144000" cy="274320"/>
          </a:xfrm>
          <a:prstGeom prst="rect">
            <a:avLst/>
          </a:prstGeom>
          <a:noFill/>
          <a:ln/>
        </p:spPr>
        <p:txBody>
          <a:bodyPr wrap="square"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PILAR #6: PRIVACIDAD Y BLINDAJE</a:t>
            </a:r>
            <a:endParaRPr lang="en-US" sz="1000" dirty="0"/>
          </a:p>
        </p:txBody>
      </p:sp>
      <p:sp>
        <p:nvSpPr>
          <p:cNvPr id="4" name="Text 2"/>
          <p:cNvSpPr/>
          <p:nvPr/>
        </p:nvSpPr>
        <p:spPr>
          <a:xfrm>
            <a:off x="548640" y="777240"/>
            <a:ext cx="11091672" cy="45720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Enlaces Efímeros de Credenciales (Anti-SIM Swap)</a:t>
            </a:r>
            <a:endParaRPr lang="en-US" sz="2200" dirty="0"/>
          </a:p>
        </p:txBody>
      </p:sp>
      <p:sp>
        <p:nvSpPr>
          <p:cNvPr id="5" name="Text 3"/>
          <p:cNvSpPr/>
          <p:nvPr/>
        </p:nvSpPr>
        <p:spPr>
          <a:xfrm>
            <a:off x="548640" y="1234440"/>
            <a:ext cx="11091672"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Entrega de contraseñas de alta seguridad mediante tokens de 1 solo uso</a:t>
            </a:r>
            <a:endParaRPr lang="en-US" sz="1200" dirty="0"/>
          </a:p>
        </p:txBody>
      </p:sp>
      <p:sp>
        <p:nvSpPr>
          <p:cNvPr id="6" name="Shape 4"/>
          <p:cNvSpPr/>
          <p:nvPr/>
        </p:nvSpPr>
        <p:spPr>
          <a:xfrm>
            <a:off x="548640" y="1645920"/>
            <a:ext cx="5303520" cy="4480560"/>
          </a:xfrm>
          <a:prstGeom prst="roundRect">
            <a:avLst>
              <a:gd name="adj" fmla="val 2041"/>
            </a:avLst>
          </a:prstGeom>
          <a:solidFill>
            <a:srgbClr val="131D31"/>
          </a:solidFill>
          <a:ln w="19050">
            <a:solidFill>
              <a:srgbClr val="EF4444"/>
            </a:solidFill>
            <a:prstDash val="solid"/>
          </a:ln>
        </p:spPr>
      </p:sp>
      <p:sp>
        <p:nvSpPr>
          <p:cNvPr id="7" name="Text 5"/>
          <p:cNvSpPr/>
          <p:nvPr/>
        </p:nvSpPr>
        <p:spPr>
          <a:xfrm>
            <a:off x="777240" y="1828800"/>
            <a:ext cx="48463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EL PELIGRO DEL TEXTO PLANO</a:t>
            </a:r>
            <a:endParaRPr lang="en-US" sz="900" dirty="0"/>
          </a:p>
        </p:txBody>
      </p:sp>
      <p:sp>
        <p:nvSpPr>
          <p:cNvPr id="8" name="Text 6"/>
          <p:cNvSpPr/>
          <p:nvPr/>
        </p:nvSpPr>
        <p:spPr>
          <a:xfrm>
            <a:off x="777240" y="2057400"/>
            <a:ext cx="48463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El Riesgo de Compartir Claves por Chat</a:t>
            </a:r>
            <a:endParaRPr lang="en-US" sz="1300" dirty="0"/>
          </a:p>
        </p:txBody>
      </p:sp>
      <p:sp>
        <p:nvSpPr>
          <p:cNvPr id="9" name="Text 7"/>
          <p:cNvSpPr/>
          <p:nvPr/>
        </p:nvSpPr>
        <p:spPr>
          <a:xfrm>
            <a:off x="777240" y="2423160"/>
            <a:ext cx="48463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Peligro Tradicional: El 99% de los revendedores envían correo y contraseña en texto plano por WhatsApp.</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Si el cliente pierde el celular, sufre un hackeo o le clonan el chip (SIM Swap), todas las cuentas quedan expuestas.</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Además, revendedores o usuarios deshonestos copian las credenciales y las revenden a espaldas del proveedor.</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Falta de control sobre quién está viendo los accesos y cuándo.</a:t>
            </a:r>
            <a:endParaRPr lang="en-US" sz="1050" dirty="0"/>
          </a:p>
        </p:txBody>
      </p:sp>
      <p:sp>
        <p:nvSpPr>
          <p:cNvPr id="10" name="Shape 8"/>
          <p:cNvSpPr/>
          <p:nvPr/>
        </p:nvSpPr>
        <p:spPr>
          <a:xfrm>
            <a:off x="6126480" y="1645920"/>
            <a:ext cx="5486400" cy="4480560"/>
          </a:xfrm>
          <a:prstGeom prst="roundRect">
            <a:avLst>
              <a:gd name="adj" fmla="val 2041"/>
            </a:avLst>
          </a:prstGeom>
          <a:solidFill>
            <a:srgbClr val="131D31"/>
          </a:solidFill>
          <a:ln w="19050">
            <a:solidFill>
              <a:srgbClr val="10B981"/>
            </a:solidFill>
            <a:prstDash val="solid"/>
          </a:ln>
        </p:spPr>
      </p:sp>
      <p:sp>
        <p:nvSpPr>
          <p:cNvPr id="11" name="Text 9"/>
          <p:cNvSpPr/>
          <p:nvPr/>
        </p:nvSpPr>
        <p:spPr>
          <a:xfrm>
            <a:off x="6355080" y="1828800"/>
            <a:ext cx="502920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BLINDAJE DE ALTA SEGURIDAD</a:t>
            </a:r>
            <a:endParaRPr lang="en-US" sz="900" dirty="0"/>
          </a:p>
        </p:txBody>
      </p:sp>
      <p:sp>
        <p:nvSpPr>
          <p:cNvPr id="12" name="Text 10"/>
          <p:cNvSpPr/>
          <p:nvPr/>
        </p:nvSpPr>
        <p:spPr>
          <a:xfrm>
            <a:off x="6355080" y="2057400"/>
            <a:ext cx="502920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La Solución StreamVault: /s/&lt;token&gt;</a:t>
            </a:r>
            <a:endParaRPr lang="en-US" sz="1300" dirty="0"/>
          </a:p>
        </p:txBody>
      </p:sp>
      <p:sp>
        <p:nvSpPr>
          <p:cNvPr id="13" name="Text 11"/>
          <p:cNvSpPr/>
          <p:nvPr/>
        </p:nvSpPr>
        <p:spPr>
          <a:xfrm>
            <a:off x="6355080" y="2423160"/>
            <a:ext cx="502920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Enlace Cifrado de Un Solo Uso: StreamVault genera una URL efímera segura: https://tudominio.com/s/a8f9c2e...</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Caducidad Automática de 10 Minutos: El enlace expira automáticamente tras el primer acceso o al cumplirse el tiempo límite.</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Visualización Segura: El cliente ingresa, visualiza su correo, contraseña y PIN, y al cerrar la ventana el token se autodestruye.</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Historial Limpio: En el chat de WhatsApp jamás queda flotando una clave maestra sensible.</a:t>
            </a:r>
            <a:endParaRPr lang="en-US" sz="1050" dirty="0"/>
          </a:p>
        </p:txBody>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StreamVault v2 • Plataforma de Automatización y CRM para Streaming</a:t>
            </a:r>
            <a:endParaRPr lang="en-US" sz="900" dirty="0"/>
          </a:p>
        </p:txBody>
      </p:sp>
      <p:sp>
        <p:nvSpPr>
          <p:cNvPr id="15" name="Text 13"/>
          <p:cNvSpPr/>
          <p:nvPr/>
        </p:nvSpPr>
        <p:spPr>
          <a:xfrm>
            <a:off x="10515600" y="649224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Slide 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65760"/>
            <a:ext cx="11091672" cy="45720"/>
          </a:xfrm>
          <a:prstGeom prst="rect">
            <a:avLst/>
          </a:prstGeom>
          <a:solidFill>
            <a:srgbClr val="38BDF8"/>
          </a:solidFill>
          <a:ln/>
        </p:spPr>
      </p:sp>
      <p:sp>
        <p:nvSpPr>
          <p:cNvPr id="3" name="Text 1"/>
          <p:cNvSpPr/>
          <p:nvPr/>
        </p:nvSpPr>
        <p:spPr>
          <a:xfrm>
            <a:off x="548640" y="502920"/>
            <a:ext cx="9144000" cy="274320"/>
          </a:xfrm>
          <a:prstGeom prst="rect">
            <a:avLst/>
          </a:prstGeom>
          <a:noFill/>
          <a:ln/>
        </p:spPr>
        <p:txBody>
          <a:bodyPr wrap="square"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PILAR #7: ATENCIÓN MULTICANAL</a:t>
            </a:r>
            <a:endParaRPr lang="en-US" sz="1000" dirty="0"/>
          </a:p>
        </p:txBody>
      </p:sp>
      <p:sp>
        <p:nvSpPr>
          <p:cNvPr id="4" name="Text 2"/>
          <p:cNvSpPr/>
          <p:nvPr/>
        </p:nvSpPr>
        <p:spPr>
          <a:xfrm>
            <a:off x="548640" y="777240"/>
            <a:ext cx="11091672" cy="45720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CRM Chatwoot en Vivo con Slash Commands</a:t>
            </a:r>
            <a:endParaRPr lang="en-US" sz="2200" dirty="0"/>
          </a:p>
        </p:txBody>
      </p:sp>
      <p:sp>
        <p:nvSpPr>
          <p:cNvPr id="5" name="Text 3"/>
          <p:cNvSpPr/>
          <p:nvPr/>
        </p:nvSpPr>
        <p:spPr>
          <a:xfrm>
            <a:off x="548640" y="1234440"/>
            <a:ext cx="11091672"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Centraliza a todo tu equipo de soporte en una única bandeja profesional sincronizada</a:t>
            </a:r>
            <a:endParaRPr lang="en-US" sz="1200" dirty="0"/>
          </a:p>
        </p:txBody>
      </p:sp>
      <p:sp>
        <p:nvSpPr>
          <p:cNvPr id="6" name="Shape 4"/>
          <p:cNvSpPr/>
          <p:nvPr/>
        </p:nvSpPr>
        <p:spPr>
          <a:xfrm>
            <a:off x="548640" y="1645920"/>
            <a:ext cx="5303520" cy="4480560"/>
          </a:xfrm>
          <a:prstGeom prst="roundRect">
            <a:avLst>
              <a:gd name="adj" fmla="val 2041"/>
            </a:avLst>
          </a:prstGeom>
          <a:solidFill>
            <a:srgbClr val="131D31"/>
          </a:solidFill>
          <a:ln w="19050">
            <a:solidFill>
              <a:srgbClr val="38BDF8"/>
            </a:solidFill>
            <a:prstDash val="solid"/>
          </a:ln>
        </p:spPr>
      </p:sp>
      <p:sp>
        <p:nvSpPr>
          <p:cNvPr id="7" name="Text 5"/>
          <p:cNvSpPr/>
          <p:nvPr/>
        </p:nvSpPr>
        <p:spPr>
          <a:xfrm>
            <a:off x="777240" y="1828800"/>
            <a:ext cx="48463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VELOCIDAD OPERATIVA</a:t>
            </a:r>
            <a:endParaRPr lang="en-US" sz="900" dirty="0"/>
          </a:p>
        </p:txBody>
      </p:sp>
      <p:sp>
        <p:nvSpPr>
          <p:cNvPr id="8" name="Text 6"/>
          <p:cNvSpPr/>
          <p:nvPr/>
        </p:nvSpPr>
        <p:spPr>
          <a:xfrm>
            <a:off x="777240" y="2057400"/>
            <a:ext cx="48463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Operaciones en Segundos con Slash Commands</a:t>
            </a:r>
            <a:endParaRPr lang="en-US" sz="1300" dirty="0"/>
          </a:p>
        </p:txBody>
      </p:sp>
      <p:sp>
        <p:nvSpPr>
          <p:cNvPr id="9" name="Text 7"/>
          <p:cNvSpPr/>
          <p:nvPr/>
        </p:nvSpPr>
        <p:spPr>
          <a:xfrm>
            <a:off x="777240" y="2423160"/>
            <a:ext cx="48463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Venta Rápida desde Notas Privadas:</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Escribe /nc_disney, /nc_n_casaextra o /nc_max directamente en el chat y el sistema asigna el casillero y entrega accesos al cliente automáticamente.</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Acreditación y Renovación Instantánea:</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Escribe /pago o /renovar para extender 30 días la suscripción del cliente actual sin abrir ninguna otra ventana.</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Resolución de Reclamos en Caliente:</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Escribe /caida y el sistema toma inventario libre y reemplaza la cuenta del cliente en el acto.</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Todo auditado con el operador que ejecutó cada acción.</a:t>
            </a:r>
            <a:endParaRPr lang="en-US" sz="1050" dirty="0"/>
          </a:p>
        </p:txBody>
      </p:sp>
      <p:sp>
        <p:nvSpPr>
          <p:cNvPr id="10" name="Shape 8"/>
          <p:cNvSpPr/>
          <p:nvPr/>
        </p:nvSpPr>
        <p:spPr>
          <a:xfrm>
            <a:off x="6126480" y="1645920"/>
            <a:ext cx="5486400" cy="4480560"/>
          </a:xfrm>
          <a:prstGeom prst="roundRect">
            <a:avLst>
              <a:gd name="adj" fmla="val 2041"/>
            </a:avLst>
          </a:prstGeom>
          <a:solidFill>
            <a:srgbClr val="131D31"/>
          </a:solidFill>
          <a:ln w="19050">
            <a:solidFill>
              <a:srgbClr val="10B981"/>
            </a:solidFill>
            <a:prstDash val="solid"/>
          </a:ln>
        </p:spPr>
      </p:sp>
      <p:sp>
        <p:nvSpPr>
          <p:cNvPr id="11" name="Text 9"/>
          <p:cNvSpPr/>
          <p:nvPr/>
        </p:nvSpPr>
        <p:spPr>
          <a:xfrm>
            <a:off x="6355080" y="1828800"/>
            <a:ext cx="502920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CONTROL DEL CLIENTE</a:t>
            </a:r>
            <a:endParaRPr lang="en-US" sz="900" dirty="0"/>
          </a:p>
        </p:txBody>
      </p:sp>
      <p:sp>
        <p:nvSpPr>
          <p:cNvPr id="12" name="Text 10"/>
          <p:cNvSpPr/>
          <p:nvPr/>
        </p:nvSpPr>
        <p:spPr>
          <a:xfrm>
            <a:off x="6355080" y="2057400"/>
            <a:ext cx="502920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Ficha del Cliente 360° en Tiempo Real</a:t>
            </a:r>
            <a:endParaRPr lang="en-US" sz="1300" dirty="0"/>
          </a:p>
        </p:txBody>
      </p:sp>
      <p:sp>
        <p:nvSpPr>
          <p:cNvPr id="13" name="Text 11"/>
          <p:cNvSpPr/>
          <p:nvPr/>
        </p:nvSpPr>
        <p:spPr>
          <a:xfrm>
            <a:off x="6355080" y="2423160"/>
            <a:ext cx="502920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Semáforo de Morosidad Visual:</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Al día | 🟡 Por vencer (próximos 3 días) | 🔴 Moroso con deuda.</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Métricas de Fidelidad y LTV:</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Conoce al instante cuánto dinero histórico te ha generado este cliente en ARS y cuántos meses lleva comprándote.</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Gestión Multi-Operador:</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Asigna chats a distintos empleados, transfiere conversaciones y deja notas internas que el cliente nunca ve.</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App Móvil y Web para atender desde cualquier lugar.</a:t>
            </a:r>
            <a:endParaRPr lang="en-US" sz="1050" dirty="0"/>
          </a:p>
        </p:txBody>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StreamVault v2 • Plataforma de Automatización y CRM para Streaming</a:t>
            </a:r>
            <a:endParaRPr lang="en-US" sz="900" dirty="0"/>
          </a:p>
        </p:txBody>
      </p:sp>
      <p:sp>
        <p:nvSpPr>
          <p:cNvPr id="15" name="Text 13"/>
          <p:cNvSpPr/>
          <p:nvPr/>
        </p:nvSpPr>
        <p:spPr>
          <a:xfrm>
            <a:off x="10515600" y="649224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Slide 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65760"/>
            <a:ext cx="11091672" cy="45720"/>
          </a:xfrm>
          <a:prstGeom prst="rect">
            <a:avLst/>
          </a:prstGeom>
          <a:solidFill>
            <a:srgbClr val="38BDF8"/>
          </a:solidFill>
          <a:ln/>
        </p:spPr>
      </p:sp>
      <p:sp>
        <p:nvSpPr>
          <p:cNvPr id="3" name="Text 1"/>
          <p:cNvSpPr/>
          <p:nvPr/>
        </p:nvSpPr>
        <p:spPr>
          <a:xfrm>
            <a:off x="548640" y="502920"/>
            <a:ext cx="9144000" cy="274320"/>
          </a:xfrm>
          <a:prstGeom prst="rect">
            <a:avLst/>
          </a:prstGeom>
          <a:noFill/>
          <a:ln/>
        </p:spPr>
        <p:txBody>
          <a:bodyPr wrap="square"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PILAR #8: CONTROL EN TU TELÉFONO</a:t>
            </a:r>
            <a:endParaRPr lang="en-US" sz="1000" dirty="0"/>
          </a:p>
        </p:txBody>
      </p:sp>
      <p:sp>
        <p:nvSpPr>
          <p:cNvPr id="4" name="Text 2"/>
          <p:cNvSpPr/>
          <p:nvPr/>
        </p:nvSpPr>
        <p:spPr>
          <a:xfrm>
            <a:off x="548640" y="777240"/>
            <a:ext cx="11091672" cy="45720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Centro de Mando Administrativo en Telegram</a:t>
            </a:r>
            <a:endParaRPr lang="en-US" sz="2200" dirty="0"/>
          </a:p>
        </p:txBody>
      </p:sp>
      <p:sp>
        <p:nvSpPr>
          <p:cNvPr id="5" name="Text 3"/>
          <p:cNvSpPr/>
          <p:nvPr/>
        </p:nvSpPr>
        <p:spPr>
          <a:xfrm>
            <a:off x="548640" y="1234440"/>
            <a:ext cx="11091672"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Monitorea, aprueba cobros y recibe reportes financieros sin abrir una computadora</a:t>
            </a:r>
            <a:endParaRPr lang="en-US" sz="1200" dirty="0"/>
          </a:p>
        </p:txBody>
      </p:sp>
      <p:sp>
        <p:nvSpPr>
          <p:cNvPr id="6" name="Shape 4"/>
          <p:cNvSpPr/>
          <p:nvPr/>
        </p:nvSpPr>
        <p:spPr>
          <a:xfrm>
            <a:off x="548640" y="1645920"/>
            <a:ext cx="3474720" cy="4480560"/>
          </a:xfrm>
          <a:prstGeom prst="roundRect">
            <a:avLst>
              <a:gd name="adj" fmla="val 2632"/>
            </a:avLst>
          </a:prstGeom>
          <a:solidFill>
            <a:srgbClr val="131D31"/>
          </a:solidFill>
          <a:ln w="19050">
            <a:solidFill>
              <a:srgbClr val="38BDF8"/>
            </a:solidFill>
            <a:prstDash val="solid"/>
          </a:ln>
        </p:spPr>
      </p:sp>
      <p:sp>
        <p:nvSpPr>
          <p:cNvPr id="7" name="Text 5"/>
          <p:cNvSpPr/>
          <p:nvPr/>
        </p:nvSpPr>
        <p:spPr>
          <a:xfrm>
            <a:off x="77724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INTERACCIÓN MÓVIL</a:t>
            </a:r>
            <a:endParaRPr lang="en-US" sz="900" dirty="0"/>
          </a:p>
        </p:txBody>
      </p:sp>
      <p:sp>
        <p:nvSpPr>
          <p:cNvPr id="8" name="Text 6"/>
          <p:cNvSpPr/>
          <p:nvPr/>
        </p:nvSpPr>
        <p:spPr>
          <a:xfrm>
            <a:off x="77724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Tarjetas con Botones de 1 Toque</a:t>
            </a:r>
            <a:endParaRPr lang="en-US" sz="1300" dirty="0"/>
          </a:p>
        </p:txBody>
      </p:sp>
      <p:sp>
        <p:nvSpPr>
          <p:cNvPr id="9" name="Text 7"/>
          <p:cNvSpPr/>
          <p:nvPr/>
        </p:nvSpPr>
        <p:spPr>
          <a:xfrm>
            <a:off x="77724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Notificaciones enriquecidas de cada pago entrante con foto del comprobante.</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Botones interactivos:</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 Aprobar Pago ]</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 Renovar Todas ]</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 Ver Ficha 360° ]</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 Abrir WhatsApp ]</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Apruebas cobros con el pulgar mientras caminas por la calle.</a:t>
            </a:r>
            <a:endParaRPr lang="en-US" sz="1050" dirty="0"/>
          </a:p>
        </p:txBody>
      </p:sp>
      <p:sp>
        <p:nvSpPr>
          <p:cNvPr id="10" name="Shape 8"/>
          <p:cNvSpPr/>
          <p:nvPr/>
        </p:nvSpPr>
        <p:spPr>
          <a:xfrm>
            <a:off x="4343400" y="1645920"/>
            <a:ext cx="3474720" cy="4480560"/>
          </a:xfrm>
          <a:prstGeom prst="roundRect">
            <a:avLst>
              <a:gd name="adj" fmla="val 2632"/>
            </a:avLst>
          </a:prstGeom>
          <a:solidFill>
            <a:srgbClr val="131D31"/>
          </a:solidFill>
          <a:ln w="19050">
            <a:solidFill>
              <a:srgbClr val="10B981"/>
            </a:solidFill>
            <a:prstDash val="solid"/>
          </a:ln>
        </p:spPr>
      </p:sp>
      <p:sp>
        <p:nvSpPr>
          <p:cNvPr id="11" name="Text 9"/>
          <p:cNvSpPr/>
          <p:nvPr/>
        </p:nvSpPr>
        <p:spPr>
          <a:xfrm>
            <a:off x="457200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FINANZAS CLARAS</a:t>
            </a:r>
            <a:endParaRPr lang="en-US" sz="900" dirty="0"/>
          </a:p>
        </p:txBody>
      </p:sp>
      <p:sp>
        <p:nvSpPr>
          <p:cNvPr id="12" name="Text 10"/>
          <p:cNvSpPr/>
          <p:nvPr/>
        </p:nvSpPr>
        <p:spPr>
          <a:xfrm>
            <a:off x="457200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Consultas Financieras en Vivo</a:t>
            </a:r>
            <a:endParaRPr lang="en-US" sz="1300" dirty="0"/>
          </a:p>
        </p:txBody>
      </p:sp>
      <p:sp>
        <p:nvSpPr>
          <p:cNvPr id="13" name="Text 11"/>
          <p:cNvSpPr/>
          <p:nvPr/>
        </p:nvSpPr>
        <p:spPr>
          <a:xfrm>
            <a:off x="457200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Comando /balance: Ingresos totales, costos de proveedores, utilidad neta real en pesos y proyección del mes en 1 segundo.</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Comando /stock: Semáforo de existencias libres por cada plataforma.</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Alerta Diaria 09:00 AM: Telegram te envía un parte matutino con las existencias críticas para reponer.</a:t>
            </a:r>
            <a:endParaRPr lang="en-US" sz="1050" dirty="0"/>
          </a:p>
        </p:txBody>
      </p:sp>
      <p:sp>
        <p:nvSpPr>
          <p:cNvPr id="14" name="Shape 12"/>
          <p:cNvSpPr/>
          <p:nvPr/>
        </p:nvSpPr>
        <p:spPr>
          <a:xfrm>
            <a:off x="8138160" y="1645920"/>
            <a:ext cx="3474720" cy="4480560"/>
          </a:xfrm>
          <a:prstGeom prst="roundRect">
            <a:avLst>
              <a:gd name="adj" fmla="val 2632"/>
            </a:avLst>
          </a:prstGeom>
          <a:solidFill>
            <a:srgbClr val="131D31"/>
          </a:solidFill>
          <a:ln w="19050">
            <a:solidFill>
              <a:srgbClr val="F59E0B"/>
            </a:solidFill>
            <a:prstDash val="solid"/>
          </a:ln>
        </p:spPr>
      </p:sp>
      <p:sp>
        <p:nvSpPr>
          <p:cNvPr id="15" name="Text 13"/>
          <p:cNvSpPr/>
          <p:nvPr/>
        </p:nvSpPr>
        <p:spPr>
          <a:xfrm>
            <a:off x="836676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RESPALDO SEGURO</a:t>
            </a:r>
            <a:endParaRPr lang="en-US" sz="900" dirty="0"/>
          </a:p>
        </p:txBody>
      </p:sp>
      <p:sp>
        <p:nvSpPr>
          <p:cNvPr id="16" name="Text 14"/>
          <p:cNvSpPr/>
          <p:nvPr/>
        </p:nvSpPr>
        <p:spPr>
          <a:xfrm>
            <a:off x="836676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Backups Cifrados y Auditoría</a:t>
            </a:r>
            <a:endParaRPr lang="en-US" sz="1300" dirty="0"/>
          </a:p>
        </p:txBody>
      </p:sp>
      <p:sp>
        <p:nvSpPr>
          <p:cNvPr id="17" name="Text 15"/>
          <p:cNvSpPr/>
          <p:nvPr/>
        </p:nvSpPr>
        <p:spPr>
          <a:xfrm>
            <a:off x="836676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Comando /backup: Genera y te envía al chat privado el archivo de base de datos comprimido .db.gz y las planillas .csv.</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Cero riesgo de pérdida de información ante fallas del servidor.</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Comando /auditoria: Historial inmutable de quién modificó cada cuenta o cliente.</a:t>
            </a:r>
            <a:endParaRPr lang="en-US" sz="1050" dirty="0"/>
          </a:p>
        </p:txBody>
      </p:sp>
      <p:sp>
        <p:nvSpPr>
          <p:cNvPr id="18" name="Text 16"/>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StreamVault v2 • Plataforma de Automatización y CRM para Streaming</a:t>
            </a:r>
            <a:endParaRPr lang="en-US" sz="900" dirty="0"/>
          </a:p>
        </p:txBody>
      </p:sp>
      <p:sp>
        <p:nvSpPr>
          <p:cNvPr id="19" name="Text 17"/>
          <p:cNvSpPr/>
          <p:nvPr/>
        </p:nvSpPr>
        <p:spPr>
          <a:xfrm>
            <a:off x="10515600" y="649224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Slide 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65760"/>
            <a:ext cx="11091672" cy="45720"/>
          </a:xfrm>
          <a:prstGeom prst="rect">
            <a:avLst/>
          </a:prstGeom>
          <a:solidFill>
            <a:srgbClr val="38BDF8"/>
          </a:solidFill>
          <a:ln/>
        </p:spPr>
      </p:sp>
      <p:sp>
        <p:nvSpPr>
          <p:cNvPr id="3" name="Text 1"/>
          <p:cNvSpPr/>
          <p:nvPr/>
        </p:nvSpPr>
        <p:spPr>
          <a:xfrm>
            <a:off x="548640" y="502920"/>
            <a:ext cx="9144000" cy="274320"/>
          </a:xfrm>
          <a:prstGeom prst="rect">
            <a:avLst/>
          </a:prstGeom>
          <a:noFill/>
          <a:ln/>
        </p:spPr>
        <p:txBody>
          <a:bodyPr wrap="square"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PILAR #9: GESTIÓN DE COMUNIDAD</a:t>
            </a:r>
            <a:endParaRPr lang="en-US" sz="1000" dirty="0"/>
          </a:p>
        </p:txBody>
      </p:sp>
      <p:sp>
        <p:nvSpPr>
          <p:cNvPr id="4" name="Text 2"/>
          <p:cNvSpPr/>
          <p:nvPr/>
        </p:nvSpPr>
        <p:spPr>
          <a:xfrm>
            <a:off x="548640" y="777240"/>
            <a:ext cx="11091672" cy="45720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Moderación Avanzada de Grupos de WhatsApp (Atlas-MD)</a:t>
            </a:r>
            <a:endParaRPr lang="en-US" sz="2200" dirty="0"/>
          </a:p>
        </p:txBody>
      </p:sp>
      <p:sp>
        <p:nvSpPr>
          <p:cNvPr id="5" name="Text 3"/>
          <p:cNvSpPr/>
          <p:nvPr/>
        </p:nvSpPr>
        <p:spPr>
          <a:xfrm>
            <a:off x="548640" y="1234440"/>
            <a:ext cx="11091672"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Protege a tu comunidad de revendedores y clientes contra spam, enlaces rivales y trolls</a:t>
            </a:r>
            <a:endParaRPr lang="en-US" sz="1200" dirty="0"/>
          </a:p>
        </p:txBody>
      </p:sp>
      <p:sp>
        <p:nvSpPr>
          <p:cNvPr id="6" name="Shape 4"/>
          <p:cNvSpPr/>
          <p:nvPr/>
        </p:nvSpPr>
        <p:spPr>
          <a:xfrm>
            <a:off x="548640" y="1645920"/>
            <a:ext cx="3474720" cy="4480560"/>
          </a:xfrm>
          <a:prstGeom prst="roundRect">
            <a:avLst>
              <a:gd name="adj" fmla="val 2632"/>
            </a:avLst>
          </a:prstGeom>
          <a:solidFill>
            <a:srgbClr val="131D31"/>
          </a:solidFill>
          <a:ln w="19050">
            <a:solidFill>
              <a:srgbClr val="EF4444"/>
            </a:solidFill>
            <a:prstDash val="solid"/>
          </a:ln>
        </p:spPr>
      </p:sp>
      <p:sp>
        <p:nvSpPr>
          <p:cNvPr id="7" name="Text 5"/>
          <p:cNvSpPr/>
          <p:nvPr/>
        </p:nvSpPr>
        <p:spPr>
          <a:xfrm>
            <a:off x="77724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PROTECCIÓN ACTIVA</a:t>
            </a:r>
            <a:endParaRPr lang="en-US" sz="900" dirty="0"/>
          </a:p>
        </p:txBody>
      </p:sp>
      <p:sp>
        <p:nvSpPr>
          <p:cNvPr id="8" name="Text 6"/>
          <p:cNvSpPr/>
          <p:nvPr/>
        </p:nvSpPr>
        <p:spPr>
          <a:xfrm>
            <a:off x="77724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Antilink con Desofuscación Unicode</a:t>
            </a:r>
            <a:endParaRPr lang="en-US" sz="1300" dirty="0"/>
          </a:p>
        </p:txBody>
      </p:sp>
      <p:sp>
        <p:nvSpPr>
          <p:cNvPr id="9" name="Text 7"/>
          <p:cNvSpPr/>
          <p:nvPr/>
        </p:nvSpPr>
        <p:spPr>
          <a:xfrm>
            <a:off x="77724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Los spammers intentan saltarse los filtros usando caracteres raros, espacios invisibles o acortadores.</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Atlas-MD normaliza el texto y detecta cualquier link no autorizado en milisegundos.</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Borra el mensaje y expulsa al infractor de inmediato (Kick automático).</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Cero robo de clientes por parte de la competencia.</a:t>
            </a:r>
            <a:endParaRPr lang="en-US" sz="1050" dirty="0"/>
          </a:p>
        </p:txBody>
      </p:sp>
      <p:sp>
        <p:nvSpPr>
          <p:cNvPr id="10" name="Shape 8"/>
          <p:cNvSpPr/>
          <p:nvPr/>
        </p:nvSpPr>
        <p:spPr>
          <a:xfrm>
            <a:off x="4343400" y="1645920"/>
            <a:ext cx="3474720" cy="4480560"/>
          </a:xfrm>
          <a:prstGeom prst="roundRect">
            <a:avLst>
              <a:gd name="adj" fmla="val 2632"/>
            </a:avLst>
          </a:prstGeom>
          <a:solidFill>
            <a:srgbClr val="131D31"/>
          </a:solidFill>
          <a:ln w="19050">
            <a:solidFill>
              <a:srgbClr val="38BDF8"/>
            </a:solidFill>
            <a:prstDash val="solid"/>
          </a:ln>
        </p:spPr>
      </p:sp>
      <p:sp>
        <p:nvSpPr>
          <p:cNvPr id="11" name="Text 9"/>
          <p:cNvSpPr/>
          <p:nvPr/>
        </p:nvSpPr>
        <p:spPr>
          <a:xfrm>
            <a:off x="457200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ORDEN Y DISCIPLINA</a:t>
            </a:r>
            <a:endParaRPr lang="en-US" sz="900" dirty="0"/>
          </a:p>
        </p:txBody>
      </p:sp>
      <p:sp>
        <p:nvSpPr>
          <p:cNvPr id="12" name="Text 10"/>
          <p:cNvSpPr/>
          <p:nvPr/>
        </p:nvSpPr>
        <p:spPr>
          <a:xfrm>
            <a:off x="457200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Comandos de Control Comunitario</a:t>
            </a:r>
            <a:endParaRPr lang="en-US" sz="1300" dirty="0"/>
          </a:p>
        </p:txBody>
      </p:sp>
      <p:sp>
        <p:nvSpPr>
          <p:cNvPr id="13" name="Text 11"/>
          <p:cNvSpPr/>
          <p:nvPr/>
        </p:nvSpPr>
        <p:spPr>
          <a:xfrm>
            <a:off x="457200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/tagall / @everyone: Menciona a todos los miembros del grupo para avisos urgentes o promociones especiales.</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/mute y /unmute: Abre o cierra el grupo con 1 comando para evitar que hablen de noche o fuera de horario comercial.</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Bienvenidas y Despedidas automáticas con las reglas del grupo.</a:t>
            </a:r>
            <a:endParaRPr lang="en-US" sz="1050" dirty="0"/>
          </a:p>
        </p:txBody>
      </p:sp>
      <p:sp>
        <p:nvSpPr>
          <p:cNvPr id="14" name="Shape 12"/>
          <p:cNvSpPr/>
          <p:nvPr/>
        </p:nvSpPr>
        <p:spPr>
          <a:xfrm>
            <a:off x="8138160" y="1645920"/>
            <a:ext cx="3474720" cy="4480560"/>
          </a:xfrm>
          <a:prstGeom prst="roundRect">
            <a:avLst>
              <a:gd name="adj" fmla="val 2632"/>
            </a:avLst>
          </a:prstGeom>
          <a:solidFill>
            <a:srgbClr val="131D31"/>
          </a:solidFill>
          <a:ln w="19050">
            <a:solidFill>
              <a:srgbClr val="10B981"/>
            </a:solidFill>
            <a:prstDash val="solid"/>
          </a:ln>
        </p:spPr>
      </p:sp>
      <p:sp>
        <p:nvSpPr>
          <p:cNvPr id="15" name="Text 13"/>
          <p:cNvSpPr/>
          <p:nvPr/>
        </p:nvSpPr>
        <p:spPr>
          <a:xfrm>
            <a:off x="836676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CONTROL DISCRETO</a:t>
            </a:r>
            <a:endParaRPr lang="en-US" sz="900" dirty="0"/>
          </a:p>
        </p:txBody>
      </p:sp>
      <p:sp>
        <p:nvSpPr>
          <p:cNvPr id="16" name="Text 14"/>
          <p:cNvSpPr/>
          <p:nvPr/>
        </p:nvSpPr>
        <p:spPr>
          <a:xfrm>
            <a:off x="836676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Silent Ban (Bloqueo Silencioso)</a:t>
            </a:r>
            <a:endParaRPr lang="en-US" sz="1300" dirty="0"/>
          </a:p>
        </p:txBody>
      </p:sp>
      <p:sp>
        <p:nvSpPr>
          <p:cNvPr id="17" name="Text 15"/>
          <p:cNvSpPr/>
          <p:nvPr/>
        </p:nvSpPr>
        <p:spPr>
          <a:xfrm>
            <a:off x="836676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¿Tienes usuarios problemáticos o revendedores desleales?</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Aplica /ban_silencioso: El bot ignora totalmente los mensajes del usuario sin avisarle ni generar discusiones públicas.</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Neutraliza conflictos sin drama ni escándalos dentro del grupo de clientes.</a:t>
            </a:r>
            <a:endParaRPr lang="en-US" sz="1050" dirty="0"/>
          </a:p>
        </p:txBody>
      </p:sp>
      <p:sp>
        <p:nvSpPr>
          <p:cNvPr id="18" name="Text 16"/>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StreamVault v2 • Plataforma de Automatización y CRM para Streaming</a:t>
            </a:r>
            <a:endParaRPr lang="en-US" sz="900" dirty="0"/>
          </a:p>
        </p:txBody>
      </p:sp>
      <p:sp>
        <p:nvSpPr>
          <p:cNvPr id="19" name="Text 17"/>
          <p:cNvSpPr/>
          <p:nvPr/>
        </p:nvSpPr>
        <p:spPr>
          <a:xfrm>
            <a:off x="10515600" y="649224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Slide 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65760"/>
            <a:ext cx="11091672" cy="45720"/>
          </a:xfrm>
          <a:prstGeom prst="rect">
            <a:avLst/>
          </a:prstGeom>
          <a:solidFill>
            <a:srgbClr val="38BDF8"/>
          </a:solidFill>
          <a:ln/>
        </p:spPr>
      </p:sp>
      <p:sp>
        <p:nvSpPr>
          <p:cNvPr id="3" name="Text 1"/>
          <p:cNvSpPr/>
          <p:nvPr/>
        </p:nvSpPr>
        <p:spPr>
          <a:xfrm>
            <a:off x="548640" y="502920"/>
            <a:ext cx="9144000" cy="274320"/>
          </a:xfrm>
          <a:prstGeom prst="rect">
            <a:avLst/>
          </a:prstGeom>
          <a:noFill/>
          <a:ln/>
        </p:spPr>
        <p:txBody>
          <a:bodyPr wrap="square"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PILAR #10: CRECIMIENTO VIRAL</a:t>
            </a:r>
            <a:endParaRPr lang="en-US" sz="1000" dirty="0"/>
          </a:p>
        </p:txBody>
      </p:sp>
      <p:sp>
        <p:nvSpPr>
          <p:cNvPr id="4" name="Text 2"/>
          <p:cNvSpPr/>
          <p:nvPr/>
        </p:nvSpPr>
        <p:spPr>
          <a:xfrm>
            <a:off x="548640" y="777240"/>
            <a:ext cx="11091672" cy="45720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Sistema de Referidos y Billetera Virtual (Wallet)</a:t>
            </a:r>
            <a:endParaRPr lang="en-US" sz="2200" dirty="0"/>
          </a:p>
        </p:txBody>
      </p:sp>
      <p:sp>
        <p:nvSpPr>
          <p:cNvPr id="5" name="Text 3"/>
          <p:cNvSpPr/>
          <p:nvPr/>
        </p:nvSpPr>
        <p:spPr>
          <a:xfrm>
            <a:off x="548640" y="1234440"/>
            <a:ext cx="11091672"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Transforma a cada cliente satisfecho en un vendedor activo de tu plataforma</a:t>
            </a:r>
            <a:endParaRPr lang="en-US" sz="1200" dirty="0"/>
          </a:p>
        </p:txBody>
      </p:sp>
      <p:sp>
        <p:nvSpPr>
          <p:cNvPr id="6" name="Shape 4"/>
          <p:cNvSpPr/>
          <p:nvPr/>
        </p:nvSpPr>
        <p:spPr>
          <a:xfrm>
            <a:off x="548640" y="1645920"/>
            <a:ext cx="5303520" cy="4480560"/>
          </a:xfrm>
          <a:prstGeom prst="roundRect">
            <a:avLst>
              <a:gd name="adj" fmla="val 2041"/>
            </a:avLst>
          </a:prstGeom>
          <a:solidFill>
            <a:srgbClr val="131D31"/>
          </a:solidFill>
          <a:ln w="19050">
            <a:solidFill>
              <a:srgbClr val="10B981"/>
            </a:solidFill>
            <a:prstDash val="solid"/>
          </a:ln>
        </p:spPr>
      </p:sp>
      <p:sp>
        <p:nvSpPr>
          <p:cNvPr id="7" name="Text 5"/>
          <p:cNvSpPr/>
          <p:nvPr/>
        </p:nvSpPr>
        <p:spPr>
          <a:xfrm>
            <a:off x="777240" y="1828800"/>
            <a:ext cx="48463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CRECIMIENTO EXPONENCIAL</a:t>
            </a:r>
            <a:endParaRPr lang="en-US" sz="900" dirty="0"/>
          </a:p>
        </p:txBody>
      </p:sp>
      <p:sp>
        <p:nvSpPr>
          <p:cNvPr id="8" name="Text 6"/>
          <p:cNvSpPr/>
          <p:nvPr/>
        </p:nvSpPr>
        <p:spPr>
          <a:xfrm>
            <a:off x="777240" y="2057400"/>
            <a:ext cx="48463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Mecánica de Recompensas Automatizada</a:t>
            </a:r>
            <a:endParaRPr lang="en-US" sz="1300" dirty="0"/>
          </a:p>
        </p:txBody>
      </p:sp>
      <p:sp>
        <p:nvSpPr>
          <p:cNvPr id="9" name="Text 7"/>
          <p:cNvSpPr/>
          <p:nvPr/>
        </p:nvSpPr>
        <p:spPr>
          <a:xfrm>
            <a:off x="777240" y="2423160"/>
            <a:ext cx="48463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Códigos de Referido Únicos por Cliente:</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Cada usuario tiene su link/código personal (ej: REF-JUAN25).</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Billetera Virtual con Saldo en Pesos (Wallet):</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Cuando un nuevo cliente compra con ese código, el sistema acredita saldo de bonificación automáticamente tanto al comprador como al referidor.</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Auto-Consumo y Canjes:</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El cliente puede usar su saldo acumulado para renovar sus cuentas o probar nuevos servicios sin sacar dinero de su bolsillo.</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Efecto Red Inparable: Crecimiento boca a boca con costo de adquisición casi cero.</a:t>
            </a:r>
            <a:endParaRPr lang="en-US" sz="1050" dirty="0"/>
          </a:p>
        </p:txBody>
      </p:sp>
      <p:sp>
        <p:nvSpPr>
          <p:cNvPr id="10" name="Shape 8"/>
          <p:cNvSpPr/>
          <p:nvPr/>
        </p:nvSpPr>
        <p:spPr>
          <a:xfrm>
            <a:off x="6126480" y="1645920"/>
            <a:ext cx="5486400" cy="4480560"/>
          </a:xfrm>
          <a:prstGeom prst="roundRect">
            <a:avLst>
              <a:gd name="adj" fmla="val 2041"/>
            </a:avLst>
          </a:prstGeom>
          <a:solidFill>
            <a:srgbClr val="131D31"/>
          </a:solidFill>
          <a:ln w="19050">
            <a:solidFill>
              <a:srgbClr val="38BDF8"/>
            </a:solidFill>
            <a:prstDash val="solid"/>
          </a:ln>
        </p:spPr>
      </p:sp>
      <p:sp>
        <p:nvSpPr>
          <p:cNvPr id="11" name="Text 9"/>
          <p:cNvSpPr/>
          <p:nvPr/>
        </p:nvSpPr>
        <p:spPr>
          <a:xfrm>
            <a:off x="6355080" y="1828800"/>
            <a:ext cx="502920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RETENCIÓN INTELIGENTE</a:t>
            </a:r>
            <a:endParaRPr lang="en-US" sz="900" dirty="0"/>
          </a:p>
        </p:txBody>
      </p:sp>
      <p:sp>
        <p:nvSpPr>
          <p:cNvPr id="12" name="Text 10"/>
          <p:cNvSpPr/>
          <p:nvPr/>
        </p:nvSpPr>
        <p:spPr>
          <a:xfrm>
            <a:off x="6355080" y="2057400"/>
            <a:ext cx="502920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Motor Anti-Churn y Fidelización</a:t>
            </a:r>
            <a:endParaRPr lang="en-US" sz="1300" dirty="0"/>
          </a:p>
        </p:txBody>
      </p:sp>
      <p:sp>
        <p:nvSpPr>
          <p:cNvPr id="13" name="Text 11"/>
          <p:cNvSpPr/>
          <p:nvPr/>
        </p:nvSpPr>
        <p:spPr>
          <a:xfrm>
            <a:off x="6355080" y="2423160"/>
            <a:ext cx="502920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Predictor de Fuga de Clientes (Churn Predictor):</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El sistema detecta si un cliente habitual no renovó tras 5 días de vencido.</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Generación de Cupones de Reactivación:</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Envía automáticamente un cupón con descuento especial o saldo de bienvenida para recuperar al cliente antes de que compre en otro lado.</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Métricas de Rendimiento en Tiempo Real:</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Conoce qué clientes son tus mayores promotores y premia a tu comunidad VIP con promociones exclusivas.</a:t>
            </a:r>
            <a:endParaRPr lang="en-US" sz="1050" dirty="0"/>
          </a:p>
        </p:txBody>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StreamVault v2 • Plataforma de Automatización y CRM para Streaming</a:t>
            </a:r>
            <a:endParaRPr lang="en-US" sz="900" dirty="0"/>
          </a:p>
        </p:txBody>
      </p:sp>
      <p:sp>
        <p:nvSpPr>
          <p:cNvPr id="15" name="Text 13"/>
          <p:cNvSpPr/>
          <p:nvPr/>
        </p:nvSpPr>
        <p:spPr>
          <a:xfrm>
            <a:off x="10515600" y="649224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Slide 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65760"/>
            <a:ext cx="11091672" cy="45720"/>
          </a:xfrm>
          <a:prstGeom prst="rect">
            <a:avLst/>
          </a:prstGeom>
          <a:solidFill>
            <a:srgbClr val="38BDF8"/>
          </a:solidFill>
          <a:ln/>
        </p:spPr>
      </p:sp>
      <p:sp>
        <p:nvSpPr>
          <p:cNvPr id="3" name="Text 1"/>
          <p:cNvSpPr/>
          <p:nvPr/>
        </p:nvSpPr>
        <p:spPr>
          <a:xfrm>
            <a:off x="548640" y="502920"/>
            <a:ext cx="9144000" cy="274320"/>
          </a:xfrm>
          <a:prstGeom prst="rect">
            <a:avLst/>
          </a:prstGeom>
          <a:noFill/>
          <a:ln/>
        </p:spPr>
        <p:txBody>
          <a:bodyPr wrap="square"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PILAR #11: SERVIDORES &amp; REDES</a:t>
            </a:r>
            <a:endParaRPr lang="en-US" sz="1000" dirty="0"/>
          </a:p>
        </p:txBody>
      </p:sp>
      <p:sp>
        <p:nvSpPr>
          <p:cNvPr id="4" name="Text 2"/>
          <p:cNvSpPr/>
          <p:nvPr/>
        </p:nvSpPr>
        <p:spPr>
          <a:xfrm>
            <a:off x="548640" y="777240"/>
            <a:ext cx="11091672" cy="45720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Automatización de Servidores VPN / HTTP Custom / SSH</a:t>
            </a:r>
            <a:endParaRPr lang="en-US" sz="2200" dirty="0"/>
          </a:p>
        </p:txBody>
      </p:sp>
      <p:sp>
        <p:nvSpPr>
          <p:cNvPr id="5" name="Text 3"/>
          <p:cNvSpPr/>
          <p:nvPr/>
        </p:nvSpPr>
        <p:spPr>
          <a:xfrm>
            <a:off x="548640" y="1234440"/>
            <a:ext cx="11091672"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El único sistema del mercado que unifica cuentas de streaming y venta de internet/VPN</a:t>
            </a:r>
            <a:endParaRPr lang="en-US" sz="1200" dirty="0"/>
          </a:p>
        </p:txBody>
      </p:sp>
      <p:sp>
        <p:nvSpPr>
          <p:cNvPr id="6" name="Shape 4"/>
          <p:cNvSpPr/>
          <p:nvPr/>
        </p:nvSpPr>
        <p:spPr>
          <a:xfrm>
            <a:off x="548640" y="1645920"/>
            <a:ext cx="5303520" cy="4480560"/>
          </a:xfrm>
          <a:prstGeom prst="roundRect">
            <a:avLst>
              <a:gd name="adj" fmla="val 2041"/>
            </a:avLst>
          </a:prstGeom>
          <a:solidFill>
            <a:srgbClr val="131D31"/>
          </a:solidFill>
          <a:ln w="19050">
            <a:solidFill>
              <a:srgbClr val="38BDF8"/>
            </a:solidFill>
            <a:prstDash val="solid"/>
          </a:ln>
        </p:spPr>
      </p:sp>
      <p:sp>
        <p:nvSpPr>
          <p:cNvPr id="7" name="Text 5"/>
          <p:cNvSpPr/>
          <p:nvPr/>
        </p:nvSpPr>
        <p:spPr>
          <a:xfrm>
            <a:off x="777240" y="1828800"/>
            <a:ext cx="48463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INTEGRACIÓN TRANSPARENTE</a:t>
            </a:r>
            <a:endParaRPr lang="en-US" sz="900" dirty="0"/>
          </a:p>
        </p:txBody>
      </p:sp>
      <p:sp>
        <p:nvSpPr>
          <p:cNvPr id="8" name="Text 6"/>
          <p:cNvSpPr/>
          <p:nvPr/>
        </p:nvSpPr>
        <p:spPr>
          <a:xfrm>
            <a:off x="777240" y="2057400"/>
            <a:ext cx="48463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Detección Transparente de Servidores</a:t>
            </a:r>
            <a:endParaRPr lang="en-US" sz="1300" dirty="0"/>
          </a:p>
        </p:txBody>
      </p:sp>
      <p:sp>
        <p:nvSpPr>
          <p:cNvPr id="9" name="Text 7"/>
          <p:cNvSpPr/>
          <p:nvPr/>
        </p:nvSpPr>
        <p:spPr>
          <a:xfrm>
            <a:off x="777240" y="2423160"/>
            <a:ext cx="48463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Interceptación Automática en Chats:</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Cuando envías los datos de acceso o archivos de configuración por WhatsApp o Chatwoot, el sistema detecta de forma transparente el usuario, HWID y vigencia.</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Alta Instantánea en Base de Datos:</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Registra el servidor VPN y programa los ciclos de cobro y vencimiento sin que tengas que cargar nada a mano.</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Segmentación de Tarifas:</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Aplica automáticamente tarifas para usuario final o precios mayoristas para revendedores de conexión.</a:t>
            </a:r>
            <a:endParaRPr lang="en-US" sz="1050" dirty="0"/>
          </a:p>
        </p:txBody>
      </p:sp>
      <p:sp>
        <p:nvSpPr>
          <p:cNvPr id="10" name="Shape 8"/>
          <p:cNvSpPr/>
          <p:nvPr/>
        </p:nvSpPr>
        <p:spPr>
          <a:xfrm>
            <a:off x="6126480" y="1645920"/>
            <a:ext cx="5486400" cy="4480560"/>
          </a:xfrm>
          <a:prstGeom prst="roundRect">
            <a:avLst>
              <a:gd name="adj" fmla="val 2041"/>
            </a:avLst>
          </a:prstGeom>
          <a:solidFill>
            <a:srgbClr val="131D31"/>
          </a:solidFill>
          <a:ln w="19050">
            <a:solidFill>
              <a:srgbClr val="10B981"/>
            </a:solidFill>
            <a:prstDash val="solid"/>
          </a:ln>
        </p:spPr>
      </p:sp>
      <p:sp>
        <p:nvSpPr>
          <p:cNvPr id="11" name="Text 9"/>
          <p:cNvSpPr/>
          <p:nvPr/>
        </p:nvSpPr>
        <p:spPr>
          <a:xfrm>
            <a:off x="6355080" y="1828800"/>
            <a:ext cx="502920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DOBLE NEGOCIO EN 1</a:t>
            </a:r>
            <a:endParaRPr lang="en-US" sz="900" dirty="0"/>
          </a:p>
        </p:txBody>
      </p:sp>
      <p:sp>
        <p:nvSpPr>
          <p:cNvPr id="12" name="Text 10"/>
          <p:cNvSpPr/>
          <p:nvPr/>
        </p:nvSpPr>
        <p:spPr>
          <a:xfrm>
            <a:off x="6355080" y="2057400"/>
            <a:ext cx="502920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Autoservicio Seguro de HWID</a:t>
            </a:r>
            <a:endParaRPr lang="en-US" sz="1300" dirty="0"/>
          </a:p>
        </p:txBody>
      </p:sp>
      <p:sp>
        <p:nvSpPr>
          <p:cNvPr id="13" name="Text 11"/>
          <p:cNvSpPr/>
          <p:nvPr/>
        </p:nvSpPr>
        <p:spPr>
          <a:xfrm>
            <a:off x="6355080" y="2423160"/>
            <a:ext cx="502920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Consulta de Conexión en Chat Privado:</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El cliente consulta por WhatsApp /vencimiento o /vpn y recibe el estado de su conexión y fecha límite.</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Protección y Ofuscación de HWID:</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Muestra los datos sensibles enmascarados para evitar clonaciones de configuraciones o fraudes entre revendedores.</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Unifica tus 2 Negocios en 1 Sola Pantalla:</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Controla tus clientes de streaming y tus clientes de internet/VPN en la misma contabilidad y el mismo bot.</a:t>
            </a:r>
            <a:endParaRPr lang="en-US" sz="1050" dirty="0"/>
          </a:p>
        </p:txBody>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StreamVault v2 • Plataforma de Automatización y CRM para Streaming</a:t>
            </a:r>
            <a:endParaRPr lang="en-US" sz="900" dirty="0"/>
          </a:p>
        </p:txBody>
      </p:sp>
      <p:sp>
        <p:nvSpPr>
          <p:cNvPr id="15" name="Text 13"/>
          <p:cNvSpPr/>
          <p:nvPr/>
        </p:nvSpPr>
        <p:spPr>
          <a:xfrm>
            <a:off x="10515600" y="649224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Slide 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65760"/>
            <a:ext cx="11091672" cy="45720"/>
          </a:xfrm>
          <a:prstGeom prst="rect">
            <a:avLst/>
          </a:prstGeom>
          <a:solidFill>
            <a:srgbClr val="38BDF8"/>
          </a:solidFill>
          <a:ln/>
        </p:spPr>
      </p:sp>
      <p:sp>
        <p:nvSpPr>
          <p:cNvPr id="3" name="Text 1"/>
          <p:cNvSpPr/>
          <p:nvPr/>
        </p:nvSpPr>
        <p:spPr>
          <a:xfrm>
            <a:off x="548640" y="502920"/>
            <a:ext cx="9144000" cy="274320"/>
          </a:xfrm>
          <a:prstGeom prst="rect">
            <a:avLst/>
          </a:prstGeom>
          <a:noFill/>
          <a:ln/>
        </p:spPr>
        <p:txBody>
          <a:bodyPr wrap="square"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PILAR #12: CONTROL CENTRAL</a:t>
            </a:r>
            <a:endParaRPr lang="en-US" sz="1000" dirty="0"/>
          </a:p>
        </p:txBody>
      </p:sp>
      <p:sp>
        <p:nvSpPr>
          <p:cNvPr id="4" name="Text 2"/>
          <p:cNvSpPr/>
          <p:nvPr/>
        </p:nvSpPr>
        <p:spPr>
          <a:xfrm>
            <a:off x="548640" y="777240"/>
            <a:ext cx="11091672" cy="45720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Panel Web BFF de Alto Rendimiento y Seguridad Bancaria</a:t>
            </a:r>
            <a:endParaRPr lang="en-US" sz="2200" dirty="0"/>
          </a:p>
        </p:txBody>
      </p:sp>
      <p:sp>
        <p:nvSpPr>
          <p:cNvPr id="5" name="Text 3"/>
          <p:cNvSpPr/>
          <p:nvPr/>
        </p:nvSpPr>
        <p:spPr>
          <a:xfrm>
            <a:off x="548640" y="1234440"/>
            <a:ext cx="11091672"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Diseño moderno, métricas financieras en tiempo real y blindaje de nivel corporativo</a:t>
            </a:r>
            <a:endParaRPr lang="en-US" sz="1200" dirty="0"/>
          </a:p>
        </p:txBody>
      </p:sp>
      <p:sp>
        <p:nvSpPr>
          <p:cNvPr id="6" name="Shape 4"/>
          <p:cNvSpPr/>
          <p:nvPr/>
        </p:nvSpPr>
        <p:spPr>
          <a:xfrm>
            <a:off x="548640" y="1645920"/>
            <a:ext cx="3474720" cy="4480560"/>
          </a:xfrm>
          <a:prstGeom prst="roundRect">
            <a:avLst>
              <a:gd name="adj" fmla="val 2632"/>
            </a:avLst>
          </a:prstGeom>
          <a:solidFill>
            <a:srgbClr val="131D31"/>
          </a:solidFill>
          <a:ln w="19050">
            <a:solidFill>
              <a:srgbClr val="38BDF8"/>
            </a:solidFill>
            <a:prstDash val="solid"/>
          </a:ln>
        </p:spPr>
      </p:sp>
      <p:sp>
        <p:nvSpPr>
          <p:cNvPr id="7" name="Text 5"/>
          <p:cNvSpPr/>
          <p:nvPr/>
        </p:nvSpPr>
        <p:spPr>
          <a:xfrm>
            <a:off x="77724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TABLERO VISUAL</a:t>
            </a:r>
            <a:endParaRPr lang="en-US" sz="900" dirty="0"/>
          </a:p>
        </p:txBody>
      </p:sp>
      <p:sp>
        <p:nvSpPr>
          <p:cNvPr id="8" name="Text 6"/>
          <p:cNvSpPr/>
          <p:nvPr/>
        </p:nvSpPr>
        <p:spPr>
          <a:xfrm>
            <a:off x="77724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Gestión Visual Total</a:t>
            </a:r>
            <a:endParaRPr lang="en-US" sz="1300" dirty="0"/>
          </a:p>
        </p:txBody>
      </p:sp>
      <p:sp>
        <p:nvSpPr>
          <p:cNvPr id="9" name="Text 7"/>
          <p:cNvSpPr/>
          <p:nvPr/>
        </p:nvSpPr>
        <p:spPr>
          <a:xfrm>
            <a:off x="77724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Interfaz Dark Mode moderna optimizada para velocidad (FastAPI + Tailwind).</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Tableros en vivo: Inventario, clientes activos, cuentas por vencer y cola de comprobantes.</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Filtros avanzados por servicio (Netflix, Disney, Max, Spotify, YouTube, VPN).</a:t>
            </a:r>
            <a:endParaRPr lang="en-US" sz="1050" dirty="0"/>
          </a:p>
        </p:txBody>
      </p:sp>
      <p:sp>
        <p:nvSpPr>
          <p:cNvPr id="10" name="Shape 8"/>
          <p:cNvSpPr/>
          <p:nvPr/>
        </p:nvSpPr>
        <p:spPr>
          <a:xfrm>
            <a:off x="4343400" y="1645920"/>
            <a:ext cx="3474720" cy="4480560"/>
          </a:xfrm>
          <a:prstGeom prst="roundRect">
            <a:avLst>
              <a:gd name="adj" fmla="val 2632"/>
            </a:avLst>
          </a:prstGeom>
          <a:solidFill>
            <a:srgbClr val="131D31"/>
          </a:solidFill>
          <a:ln w="19050">
            <a:solidFill>
              <a:srgbClr val="10B981"/>
            </a:solidFill>
            <a:prstDash val="solid"/>
          </a:ln>
        </p:spPr>
      </p:sp>
      <p:sp>
        <p:nvSpPr>
          <p:cNvPr id="11" name="Text 9"/>
          <p:cNvSpPr/>
          <p:nvPr/>
        </p:nvSpPr>
        <p:spPr>
          <a:xfrm>
            <a:off x="457200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CONTABILIDAD REAL</a:t>
            </a:r>
            <a:endParaRPr lang="en-US" sz="900" dirty="0"/>
          </a:p>
        </p:txBody>
      </p:sp>
      <p:sp>
        <p:nvSpPr>
          <p:cNvPr id="12" name="Text 10"/>
          <p:cNvSpPr/>
          <p:nvPr/>
        </p:nvSpPr>
        <p:spPr>
          <a:xfrm>
            <a:off x="457200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Libro Diario y Finanzas</a:t>
            </a:r>
            <a:endParaRPr lang="en-US" sz="1300" dirty="0"/>
          </a:p>
        </p:txBody>
      </p:sp>
      <p:sp>
        <p:nvSpPr>
          <p:cNvPr id="13" name="Text 11"/>
          <p:cNvSpPr/>
          <p:nvPr/>
        </p:nvSpPr>
        <p:spPr>
          <a:xfrm>
            <a:off x="457200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Registro automático de cada cobro y cada costo de proveedor.</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Cuentas por Cobrar a 7 días vista para proyectar tu flujo de caja.</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Exportación e importación en CSV para contadores y conciliaciones bancarias en un clic.</a:t>
            </a:r>
            <a:endParaRPr lang="en-US" sz="1050" dirty="0"/>
          </a:p>
        </p:txBody>
      </p:sp>
      <p:sp>
        <p:nvSpPr>
          <p:cNvPr id="14" name="Shape 12"/>
          <p:cNvSpPr/>
          <p:nvPr/>
        </p:nvSpPr>
        <p:spPr>
          <a:xfrm>
            <a:off x="8138160" y="1645920"/>
            <a:ext cx="3474720" cy="4480560"/>
          </a:xfrm>
          <a:prstGeom prst="roundRect">
            <a:avLst>
              <a:gd name="adj" fmla="val 2632"/>
            </a:avLst>
          </a:prstGeom>
          <a:solidFill>
            <a:srgbClr val="131D31"/>
          </a:solidFill>
          <a:ln w="19050">
            <a:solidFill>
              <a:srgbClr val="F59E0B"/>
            </a:solidFill>
            <a:prstDash val="solid"/>
          </a:ln>
        </p:spPr>
      </p:sp>
      <p:sp>
        <p:nvSpPr>
          <p:cNvPr id="15" name="Text 13"/>
          <p:cNvSpPr/>
          <p:nvPr/>
        </p:nvSpPr>
        <p:spPr>
          <a:xfrm>
            <a:off x="836676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BLINDAJE TOTAL</a:t>
            </a:r>
            <a:endParaRPr lang="en-US" sz="900" dirty="0"/>
          </a:p>
        </p:txBody>
      </p:sp>
      <p:sp>
        <p:nvSpPr>
          <p:cNvPr id="16" name="Text 14"/>
          <p:cNvSpPr/>
          <p:nvPr/>
        </p:nvSpPr>
        <p:spPr>
          <a:xfrm>
            <a:off x="836676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Seguridad Criptográfica</a:t>
            </a:r>
            <a:endParaRPr lang="en-US" sz="1300" dirty="0"/>
          </a:p>
        </p:txBody>
      </p:sp>
      <p:sp>
        <p:nvSpPr>
          <p:cNvPr id="17" name="Text 15"/>
          <p:cNvSpPr/>
          <p:nvPr/>
        </p:nvSpPr>
        <p:spPr>
          <a:xfrm>
            <a:off x="836676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Doble Factor de Autenticación (2FA / Google Authenticator) y OTP en Telegram.</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Contraseñas protegidas con hash Argon2 y cookies firmadas HttpOnly.</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Log de Auditoría Inmutable firmado con HMAC: Cada cambio de clave queda sellado con IP y fecha.</a:t>
            </a:r>
            <a:endParaRPr lang="en-US" sz="1050" dirty="0"/>
          </a:p>
        </p:txBody>
      </p:sp>
      <p:sp>
        <p:nvSpPr>
          <p:cNvPr id="18" name="Text 16"/>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StreamVault v2 • Plataforma de Automatización y CRM para Streaming</a:t>
            </a:r>
            <a:endParaRPr lang="en-US" sz="900" dirty="0"/>
          </a:p>
        </p:txBody>
      </p:sp>
      <p:sp>
        <p:nvSpPr>
          <p:cNvPr id="19" name="Text 17"/>
          <p:cNvSpPr/>
          <p:nvPr/>
        </p:nvSpPr>
        <p:spPr>
          <a:xfrm>
            <a:off x="10515600" y="649224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Slide 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65760"/>
            <a:ext cx="11091672" cy="45720"/>
          </a:xfrm>
          <a:prstGeom prst="rect">
            <a:avLst/>
          </a:prstGeom>
          <a:solidFill>
            <a:srgbClr val="38BDF8"/>
          </a:solidFill>
          <a:ln/>
        </p:spPr>
      </p:sp>
      <p:sp>
        <p:nvSpPr>
          <p:cNvPr id="3" name="Text 1"/>
          <p:cNvSpPr/>
          <p:nvPr/>
        </p:nvSpPr>
        <p:spPr>
          <a:xfrm>
            <a:off x="548640" y="502920"/>
            <a:ext cx="9144000" cy="274320"/>
          </a:xfrm>
          <a:prstGeom prst="rect">
            <a:avLst/>
          </a:prstGeom>
          <a:noFill/>
          <a:ln/>
        </p:spPr>
        <p:txBody>
          <a:bodyPr wrap="square"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IMPACTO EN EL NEGOCIO</a:t>
            </a:r>
            <a:endParaRPr lang="en-US" sz="1000" dirty="0"/>
          </a:p>
        </p:txBody>
      </p:sp>
      <p:sp>
        <p:nvSpPr>
          <p:cNvPr id="4" name="Text 2"/>
          <p:cNvSpPr/>
          <p:nvPr/>
        </p:nvSpPr>
        <p:spPr>
          <a:xfrm>
            <a:off x="548640" y="777240"/>
            <a:ext cx="11091672" cy="45720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Antes vs. Después de StreamVault: La Transformación</a:t>
            </a:r>
            <a:endParaRPr lang="en-US" sz="2200" dirty="0"/>
          </a:p>
        </p:txBody>
      </p:sp>
      <p:sp>
        <p:nvSpPr>
          <p:cNvPr id="5" name="Text 3"/>
          <p:cNvSpPr/>
          <p:nvPr/>
        </p:nvSpPr>
        <p:spPr>
          <a:xfrm>
            <a:off x="548640" y="1234440"/>
            <a:ext cx="11091672"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Compara la gestión artesanal con una infraestructura empresarial automatizada</a:t>
            </a:r>
            <a:endParaRPr lang="en-US" sz="1200" dirty="0"/>
          </a:p>
        </p:txBody>
      </p:sp>
      <p:sp>
        <p:nvSpPr>
          <p:cNvPr id="6" name="Shape 4"/>
          <p:cNvSpPr/>
          <p:nvPr/>
        </p:nvSpPr>
        <p:spPr>
          <a:xfrm>
            <a:off x="548640" y="1645920"/>
            <a:ext cx="5303520" cy="4480560"/>
          </a:xfrm>
          <a:prstGeom prst="roundRect">
            <a:avLst>
              <a:gd name="adj" fmla="val 2041"/>
            </a:avLst>
          </a:prstGeom>
          <a:solidFill>
            <a:srgbClr val="131D31"/>
          </a:solidFill>
          <a:ln w="19050">
            <a:solidFill>
              <a:srgbClr val="EF4444"/>
            </a:solidFill>
            <a:prstDash val="solid"/>
          </a:ln>
        </p:spPr>
      </p:sp>
      <p:sp>
        <p:nvSpPr>
          <p:cNvPr id="7" name="Text 5"/>
          <p:cNvSpPr/>
          <p:nvPr/>
        </p:nvSpPr>
        <p:spPr>
          <a:xfrm>
            <a:off x="777240" y="1828800"/>
            <a:ext cx="48463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EL PASADO: ESTRÉS Y LÍMITE</a:t>
            </a:r>
            <a:endParaRPr lang="en-US" sz="900" dirty="0"/>
          </a:p>
        </p:txBody>
      </p:sp>
      <p:sp>
        <p:nvSpPr>
          <p:cNvPr id="8" name="Text 6"/>
          <p:cNvSpPr/>
          <p:nvPr/>
        </p:nvSpPr>
        <p:spPr>
          <a:xfrm>
            <a:off x="777240" y="2057400"/>
            <a:ext cx="48463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EL MÉTODO MANUAL (EXCEL + CHATS)</a:t>
            </a:r>
            <a:endParaRPr lang="en-US" sz="1300" dirty="0"/>
          </a:p>
        </p:txBody>
      </p:sp>
      <p:sp>
        <p:nvSpPr>
          <p:cNvPr id="9" name="Text 7"/>
          <p:cNvSpPr/>
          <p:nvPr/>
        </p:nvSpPr>
        <p:spPr>
          <a:xfrm>
            <a:off x="777240" y="2423160"/>
            <a:ext cx="48463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Horas perdidas: 4 a 6 horas diarias pegado al celular respondiendo lo mismo.</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Pérdidas por fraude: $50.000 a $150.000 ARS/mes en comprobantes truchos o repetidos.</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Cuentas caídas: 20 a 30 minutos por reclamo con clientes enojados.</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Morosidad: 35% de los clientes se atrasan o se van sin pagar por falta de seguimiento.</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Techo de crecimiento: Imposible superar 300 clientes sin contratar secretarios y perder el control.</a:t>
            </a:r>
            <a:endParaRPr lang="en-US" sz="1050" dirty="0"/>
          </a:p>
        </p:txBody>
      </p:sp>
      <p:sp>
        <p:nvSpPr>
          <p:cNvPr id="10" name="Shape 8"/>
          <p:cNvSpPr/>
          <p:nvPr/>
        </p:nvSpPr>
        <p:spPr>
          <a:xfrm>
            <a:off x="6126480" y="1645920"/>
            <a:ext cx="5486400" cy="4480560"/>
          </a:xfrm>
          <a:prstGeom prst="roundRect">
            <a:avLst>
              <a:gd name="adj" fmla="val 2041"/>
            </a:avLst>
          </a:prstGeom>
          <a:solidFill>
            <a:srgbClr val="131D31"/>
          </a:solidFill>
          <a:ln w="19050">
            <a:solidFill>
              <a:srgbClr val="10B981"/>
            </a:solidFill>
            <a:prstDash val="solid"/>
          </a:ln>
        </p:spPr>
      </p:sp>
      <p:sp>
        <p:nvSpPr>
          <p:cNvPr id="11" name="Text 9"/>
          <p:cNvSpPr/>
          <p:nvPr/>
        </p:nvSpPr>
        <p:spPr>
          <a:xfrm>
            <a:off x="6355080" y="1828800"/>
            <a:ext cx="502920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EL FUTURO: ESCALABILIDAD Y PAZ</a:t>
            </a:r>
            <a:endParaRPr lang="en-US" sz="900" dirty="0"/>
          </a:p>
        </p:txBody>
      </p:sp>
      <p:sp>
        <p:nvSpPr>
          <p:cNvPr id="12" name="Text 10"/>
          <p:cNvSpPr/>
          <p:nvPr/>
        </p:nvSpPr>
        <p:spPr>
          <a:xfrm>
            <a:off x="6355080" y="2057400"/>
            <a:ext cx="502920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CON STREAMVAULT v2 (AUTOMATIZADO)</a:t>
            </a:r>
            <a:endParaRPr lang="en-US" sz="1300" dirty="0"/>
          </a:p>
        </p:txBody>
      </p:sp>
      <p:sp>
        <p:nvSpPr>
          <p:cNvPr id="13" name="Text 11"/>
          <p:cNvSpPr/>
          <p:nvPr/>
        </p:nvSpPr>
        <p:spPr>
          <a:xfrm>
            <a:off x="6355080" y="2423160"/>
            <a:ext cx="502920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Cero esclavitud: 20 minutos al día solo para compras a mayoristas.</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Blindaje total: Cero fraudes gracias a Gemini Vision y hash perceptual.</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Resolución récord: Reemplazo de cuentas caídas en solo 4 segundos.</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Retención del 92%: Cobranzas preventivas automáticas agrupadas con CBU.</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Escala ilimitada: Administra 2.000 a 10.000 clientes con el mismo equipo y triplica tus ganancias netas.</a:t>
            </a:r>
            <a:endParaRPr lang="en-US" sz="1050" dirty="0"/>
          </a:p>
        </p:txBody>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StreamVault v2 • Plataforma de Automatización y CRM para Streaming</a:t>
            </a:r>
            <a:endParaRPr lang="en-US" sz="900" dirty="0"/>
          </a:p>
        </p:txBody>
      </p:sp>
      <p:sp>
        <p:nvSpPr>
          <p:cNvPr id="15" name="Text 13"/>
          <p:cNvSpPr/>
          <p:nvPr/>
        </p:nvSpPr>
        <p:spPr>
          <a:xfrm>
            <a:off x="10515600" y="649224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Slide 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65760"/>
            <a:ext cx="11091672" cy="45720"/>
          </a:xfrm>
          <a:prstGeom prst="rect">
            <a:avLst/>
          </a:prstGeom>
          <a:solidFill>
            <a:srgbClr val="38BDF8"/>
          </a:solidFill>
          <a:ln/>
        </p:spPr>
      </p:sp>
      <p:sp>
        <p:nvSpPr>
          <p:cNvPr id="3" name="Text 1"/>
          <p:cNvSpPr/>
          <p:nvPr/>
        </p:nvSpPr>
        <p:spPr>
          <a:xfrm>
            <a:off x="548640" y="502920"/>
            <a:ext cx="9144000" cy="274320"/>
          </a:xfrm>
          <a:prstGeom prst="rect">
            <a:avLst/>
          </a:prstGeom>
          <a:noFill/>
          <a:ln/>
        </p:spPr>
        <p:txBody>
          <a:bodyPr wrap="square" rtlCol="0" anchor="ctr"/>
          <a:lstStyle/>
          <a:p>
            <a:pPr indent="0" marL="0">
              <a:buNone/>
            </a:pPr>
            <a:r>
              <a:rPr lang="en-US" sz="1000" b="1" spc="200" kern="0" dirty="0">
                <a:solidFill>
                  <a:srgbClr val="38BDF8"/>
                </a:solidFill>
                <a:latin typeface="Calibri" pitchFamily="34" charset="0"/>
                <a:ea typeface="Calibri" pitchFamily="34" charset="-122"/>
                <a:cs typeface="Calibri" pitchFamily="34" charset="-120"/>
              </a:rPr>
              <a:t>PUESTA EN MARCHA</a:t>
            </a:r>
            <a:endParaRPr lang="en-US" sz="1000" dirty="0"/>
          </a:p>
        </p:txBody>
      </p:sp>
      <p:sp>
        <p:nvSpPr>
          <p:cNvPr id="4" name="Text 2"/>
          <p:cNvSpPr/>
          <p:nvPr/>
        </p:nvSpPr>
        <p:spPr>
          <a:xfrm>
            <a:off x="548640" y="777240"/>
            <a:ext cx="11091672" cy="45720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Implementación Rápida y Llave en Mano en 24 Horas</a:t>
            </a:r>
            <a:endParaRPr lang="en-US" sz="2200" dirty="0"/>
          </a:p>
        </p:txBody>
      </p:sp>
      <p:sp>
        <p:nvSpPr>
          <p:cNvPr id="5" name="Text 3"/>
          <p:cNvSpPr/>
          <p:nvPr/>
        </p:nvSpPr>
        <p:spPr>
          <a:xfrm>
            <a:off x="548640" y="1234440"/>
            <a:ext cx="11091672"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Te entregamos el sistema completamente instalado, configurado y listo para facturar</a:t>
            </a:r>
            <a:endParaRPr lang="en-US" sz="1200" dirty="0"/>
          </a:p>
        </p:txBody>
      </p:sp>
      <p:sp>
        <p:nvSpPr>
          <p:cNvPr id="6" name="Shape 4"/>
          <p:cNvSpPr/>
          <p:nvPr/>
        </p:nvSpPr>
        <p:spPr>
          <a:xfrm>
            <a:off x="548640" y="1645920"/>
            <a:ext cx="3474720" cy="4480560"/>
          </a:xfrm>
          <a:prstGeom prst="roundRect">
            <a:avLst>
              <a:gd name="adj" fmla="val 2632"/>
            </a:avLst>
          </a:prstGeom>
          <a:solidFill>
            <a:srgbClr val="131D31"/>
          </a:solidFill>
          <a:ln w="19050">
            <a:solidFill>
              <a:srgbClr val="38BDF8"/>
            </a:solidFill>
            <a:prstDash val="solid"/>
          </a:ln>
        </p:spPr>
      </p:sp>
      <p:sp>
        <p:nvSpPr>
          <p:cNvPr id="7" name="Text 5"/>
          <p:cNvSpPr/>
          <p:nvPr/>
        </p:nvSpPr>
        <p:spPr>
          <a:xfrm>
            <a:off x="77724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INFRAESTRUCTURA</a:t>
            </a:r>
            <a:endParaRPr lang="en-US" sz="900" dirty="0"/>
          </a:p>
        </p:txBody>
      </p:sp>
      <p:sp>
        <p:nvSpPr>
          <p:cNvPr id="8" name="Text 6"/>
          <p:cNvSpPr/>
          <p:nvPr/>
        </p:nvSpPr>
        <p:spPr>
          <a:xfrm>
            <a:off x="77724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1. Despliegue en Servidor Dedicado</a:t>
            </a:r>
            <a:endParaRPr lang="en-US" sz="1300" dirty="0"/>
          </a:p>
        </p:txBody>
      </p:sp>
      <p:sp>
        <p:nvSpPr>
          <p:cNvPr id="9" name="Text 7"/>
          <p:cNvSpPr/>
          <p:nvPr/>
        </p:nvSpPr>
        <p:spPr>
          <a:xfrm>
            <a:off x="77724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Instalación dockerizada en VPS (Ubuntu / Debian / Windows Server).</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Configuración de base de datos cifrada y respaldos automáticos en la nube.</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Dominio propio con certificado SSL HTTPS para panel y enlaces efímeros.</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Disponibilidad 24/7/365 sin depender de tu computadora personal.</a:t>
            </a:r>
            <a:endParaRPr lang="en-US" sz="1050" dirty="0"/>
          </a:p>
        </p:txBody>
      </p:sp>
      <p:sp>
        <p:nvSpPr>
          <p:cNvPr id="10" name="Shape 8"/>
          <p:cNvSpPr/>
          <p:nvPr/>
        </p:nvSpPr>
        <p:spPr>
          <a:xfrm>
            <a:off x="4343400" y="1645920"/>
            <a:ext cx="3474720" cy="4480560"/>
          </a:xfrm>
          <a:prstGeom prst="roundRect">
            <a:avLst>
              <a:gd name="adj" fmla="val 2632"/>
            </a:avLst>
          </a:prstGeom>
          <a:solidFill>
            <a:srgbClr val="131D31"/>
          </a:solidFill>
          <a:ln w="19050">
            <a:solidFill>
              <a:srgbClr val="10B981"/>
            </a:solidFill>
            <a:prstDash val="solid"/>
          </a:ln>
        </p:spPr>
      </p:sp>
      <p:sp>
        <p:nvSpPr>
          <p:cNvPr id="11" name="Text 9"/>
          <p:cNvSpPr/>
          <p:nvPr/>
        </p:nvSpPr>
        <p:spPr>
          <a:xfrm>
            <a:off x="457200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INTEGRACIÓN TOTAL</a:t>
            </a:r>
            <a:endParaRPr lang="en-US" sz="900" dirty="0"/>
          </a:p>
        </p:txBody>
      </p:sp>
      <p:sp>
        <p:nvSpPr>
          <p:cNvPr id="12" name="Text 10"/>
          <p:cNvSpPr/>
          <p:nvPr/>
        </p:nvSpPr>
        <p:spPr>
          <a:xfrm>
            <a:off x="457200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2. Vinculación de Canales</a:t>
            </a:r>
            <a:endParaRPr lang="en-US" sz="1300" dirty="0"/>
          </a:p>
        </p:txBody>
      </p:sp>
      <p:sp>
        <p:nvSpPr>
          <p:cNvPr id="13" name="Text 11"/>
          <p:cNvSpPr/>
          <p:nvPr/>
        </p:nvSpPr>
        <p:spPr>
          <a:xfrm>
            <a:off x="457200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Conexión de tu línea de WhatsApp mediante código QR en 30 segundos (Evolution API).</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Creación e integración del Bot Administrador en Telegram.</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Conexión de Chatwoot CRM con agentes ilimitados para tu equipo de soporte.</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Carga y migración de tus cuentas y clientes actuales desde planillas Excel.</a:t>
            </a:r>
            <a:endParaRPr lang="en-US" sz="1050" dirty="0"/>
          </a:p>
        </p:txBody>
      </p:sp>
      <p:sp>
        <p:nvSpPr>
          <p:cNvPr id="14" name="Shape 12"/>
          <p:cNvSpPr/>
          <p:nvPr/>
        </p:nvSpPr>
        <p:spPr>
          <a:xfrm>
            <a:off x="8138160" y="1645920"/>
            <a:ext cx="3474720" cy="4480560"/>
          </a:xfrm>
          <a:prstGeom prst="roundRect">
            <a:avLst>
              <a:gd name="adj" fmla="val 2632"/>
            </a:avLst>
          </a:prstGeom>
          <a:solidFill>
            <a:srgbClr val="131D31"/>
          </a:solidFill>
          <a:ln w="19050">
            <a:solidFill>
              <a:srgbClr val="818CF8"/>
            </a:solidFill>
            <a:prstDash val="solid"/>
          </a:ln>
        </p:spPr>
      </p:sp>
      <p:sp>
        <p:nvSpPr>
          <p:cNvPr id="15" name="Text 13"/>
          <p:cNvSpPr/>
          <p:nvPr/>
        </p:nvSpPr>
        <p:spPr>
          <a:xfrm>
            <a:off x="8366760" y="1828800"/>
            <a:ext cx="3017520" cy="228600"/>
          </a:xfrm>
          <a:prstGeom prst="rect">
            <a:avLst/>
          </a:prstGeom>
          <a:noFill/>
          <a:ln/>
        </p:spPr>
        <p:txBody>
          <a:bodyPr wrap="square"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ACOMPAÑAMIENTO</a:t>
            </a:r>
            <a:endParaRPr lang="en-US" sz="900" dirty="0"/>
          </a:p>
        </p:txBody>
      </p:sp>
      <p:sp>
        <p:nvSpPr>
          <p:cNvPr id="16" name="Text 14"/>
          <p:cNvSpPr/>
          <p:nvPr/>
        </p:nvSpPr>
        <p:spPr>
          <a:xfrm>
            <a:off x="8366760" y="2057400"/>
            <a:ext cx="3017520" cy="365760"/>
          </a:xfrm>
          <a:prstGeom prst="rect">
            <a:avLst/>
          </a:prstGeom>
          <a:noFill/>
          <a:ln/>
        </p:spPr>
        <p:txBody>
          <a:bodyPr wrap="square"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3. Capacitación y Garantía</a:t>
            </a:r>
            <a:endParaRPr lang="en-US" sz="1300" dirty="0"/>
          </a:p>
        </p:txBody>
      </p:sp>
      <p:sp>
        <p:nvSpPr>
          <p:cNvPr id="17" name="Text 15"/>
          <p:cNvSpPr/>
          <p:nvPr/>
        </p:nvSpPr>
        <p:spPr>
          <a:xfrm>
            <a:off x="8366760" y="2423160"/>
            <a:ext cx="3017520" cy="3520440"/>
          </a:xfrm>
          <a:prstGeom prst="rect">
            <a:avLst/>
          </a:prstGeom>
          <a:noFill/>
          <a:ln/>
        </p:spPr>
        <p:txBody>
          <a:bodyPr wrap="square" rtlCol="0" anchor="t"/>
          <a:lstStyle/>
          <a:p>
            <a:pPr indent="0" marL="0">
              <a:buNone/>
            </a:pPr>
            <a:r>
              <a:rPr lang="en-US" sz="1050" dirty="0">
                <a:solidFill>
                  <a:srgbClr val="94A3B8"/>
                </a:solidFill>
                <a:latin typeface="Calibri" pitchFamily="34" charset="0"/>
                <a:ea typeface="Calibri" pitchFamily="34" charset="-122"/>
                <a:cs typeface="Calibri" pitchFamily="34" charset="-120"/>
              </a:rPr>
              <a:t>• Sesión de inducción personalizada 1 a 1 para ti y tus operadores.</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Manuales y guías paso a paso de cada comando y función del sistema.</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Soporte técnico prioritario y actualizaciones continuas de seguridad.</a:t>
            </a:r>
            <a:endParaRPr lang="en-US" sz="1050" dirty="0"/>
          </a:p>
          <a:p>
            <a:pPr indent="0" marL="0">
              <a:buNone/>
            </a:pP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 Garantía de puesta en marcha en menos de 24 horas hábiles.</a:t>
            </a:r>
            <a:endParaRPr lang="en-US" sz="1050" dirty="0"/>
          </a:p>
        </p:txBody>
      </p:sp>
      <p:sp>
        <p:nvSpPr>
          <p:cNvPr id="18" name="Text 16"/>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StreamVault v2 • Plataforma de Automatización y CRM para Streaming</a:t>
            </a:r>
            <a:endParaRPr lang="en-US" sz="900" dirty="0"/>
          </a:p>
        </p:txBody>
      </p:sp>
      <p:sp>
        <p:nvSpPr>
          <p:cNvPr id="19" name="Text 17"/>
          <p:cNvSpPr/>
          <p:nvPr/>
        </p:nvSpPr>
        <p:spPr>
          <a:xfrm>
            <a:off x="10515600" y="649224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Slide 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731520"/>
            <a:ext cx="11091672" cy="5303520"/>
          </a:xfrm>
          <a:prstGeom prst="roundRect">
            <a:avLst>
              <a:gd name="adj" fmla="val 3448"/>
            </a:avLst>
          </a:prstGeom>
          <a:solidFill>
            <a:srgbClr val="0E1626"/>
          </a:solidFill>
          <a:ln w="25400">
            <a:solidFill>
              <a:srgbClr val="38BDF8"/>
            </a:solidFill>
            <a:prstDash val="solid"/>
          </a:ln>
        </p:spPr>
      </p:sp>
      <p:sp>
        <p:nvSpPr>
          <p:cNvPr id="3" name="Text 1"/>
          <p:cNvSpPr/>
          <p:nvPr/>
        </p:nvSpPr>
        <p:spPr>
          <a:xfrm>
            <a:off x="1097280" y="1188720"/>
            <a:ext cx="9601200" cy="457200"/>
          </a:xfrm>
          <a:prstGeom prst="rect">
            <a:avLst/>
          </a:prstGeom>
          <a:noFill/>
          <a:ln/>
        </p:spPr>
        <p:txBody>
          <a:bodyPr wrap="square" rtlCol="0" anchor="ctr"/>
          <a:lstStyle/>
          <a:p>
            <a:pPr algn="ctr" indent="0" marL="0">
              <a:buNone/>
            </a:pPr>
            <a:r>
              <a:rPr lang="en-US" sz="2800" b="1" dirty="0">
                <a:solidFill>
                  <a:srgbClr val="F8FAFC"/>
                </a:solidFill>
                <a:latin typeface="Calibri" pitchFamily="34" charset="0"/>
                <a:ea typeface="Calibri" pitchFamily="34" charset="-122"/>
                <a:cs typeface="Calibri" pitchFamily="34" charset="-120"/>
              </a:rPr>
              <a:t>¿LISTO PARA MULTIPLICAR TU NEGOCIO?</a:t>
            </a:r>
            <a:endParaRPr lang="en-US" sz="2800" dirty="0"/>
          </a:p>
        </p:txBody>
      </p:sp>
      <p:sp>
        <p:nvSpPr>
          <p:cNvPr id="4" name="Text 2"/>
          <p:cNvSpPr/>
          <p:nvPr/>
        </p:nvSpPr>
        <p:spPr>
          <a:xfrm>
            <a:off x="1371600" y="1737360"/>
            <a:ext cx="8961120" cy="640080"/>
          </a:xfrm>
          <a:prstGeom prst="rect">
            <a:avLst/>
          </a:prstGeom>
          <a:noFill/>
          <a:ln/>
        </p:spPr>
        <p:txBody>
          <a:bodyPr wrap="square"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Deja de ser esclavo de tu WhatsApp y conviértete en el dueño de una plataforma automatizada que genera ingresos mientras duermes.</a:t>
            </a:r>
            <a:endParaRPr lang="en-US" sz="1400" dirty="0"/>
          </a:p>
        </p:txBody>
      </p:sp>
      <p:sp>
        <p:nvSpPr>
          <p:cNvPr id="5" name="Shape 3"/>
          <p:cNvSpPr/>
          <p:nvPr/>
        </p:nvSpPr>
        <p:spPr>
          <a:xfrm>
            <a:off x="1371600" y="2560320"/>
            <a:ext cx="8961120" cy="2286000"/>
          </a:xfrm>
          <a:prstGeom prst="roundRect">
            <a:avLst>
              <a:gd name="adj" fmla="val 6000"/>
            </a:avLst>
          </a:prstGeom>
          <a:solidFill>
            <a:srgbClr val="131D31"/>
          </a:solidFill>
          <a:ln w="19050">
            <a:solidFill>
              <a:srgbClr val="10B981"/>
            </a:solidFill>
            <a:prstDash val="solid"/>
          </a:ln>
        </p:spPr>
      </p:sp>
      <p:sp>
        <p:nvSpPr>
          <p:cNvPr id="6" name="Text 4"/>
          <p:cNvSpPr/>
          <p:nvPr/>
        </p:nvSpPr>
        <p:spPr>
          <a:xfrm>
            <a:off x="1645920" y="2743200"/>
            <a:ext cx="8412480" cy="320040"/>
          </a:xfrm>
          <a:prstGeom prst="rect">
            <a:avLst/>
          </a:prstGeom>
          <a:noFill/>
          <a:ln/>
        </p:spPr>
        <p:txBody>
          <a:bodyPr wrap="square"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PASOS SIGUIENTES PARA COMENZAR HOY MISMO:</a:t>
            </a:r>
            <a:endParaRPr lang="en-US" sz="1200" dirty="0"/>
          </a:p>
        </p:txBody>
      </p:sp>
      <p:sp>
        <p:nvSpPr>
          <p:cNvPr id="7" name="Text 5"/>
          <p:cNvSpPr/>
          <p:nvPr/>
        </p:nvSpPr>
        <p:spPr>
          <a:xfrm>
            <a:off x="1645920" y="3154680"/>
            <a:ext cx="8412480" cy="411480"/>
          </a:xfrm>
          <a:prstGeom prst="rect">
            <a:avLst/>
          </a:prstGeom>
          <a:noFill/>
          <a:ln/>
        </p:spPr>
        <p:txBody>
          <a:bodyPr wrap="square" rtlCol="0" anchor="ctr"/>
          <a:lstStyle/>
          <a:p>
            <a:pPr indent="0" marL="0">
              <a:buNone/>
            </a:pPr>
            <a:r>
              <a:rPr lang="en-US" sz="1300" dirty="0">
                <a:solidFill>
                  <a:srgbClr val="F8FAFC"/>
                </a:solidFill>
                <a:latin typeface="Calibri" pitchFamily="34" charset="0"/>
                <a:ea typeface="Calibri" pitchFamily="34" charset="-122"/>
                <a:cs typeface="Calibri" pitchFamily="34" charset="-120"/>
              </a:rPr>
              <a:t>1. Demo en Vivo: Hacemos una prueba real enviando un mensaje a tu propio WhatsApp para que veas la velocidad de la IA.</a:t>
            </a:r>
            <a:endParaRPr lang="en-US" sz="1300" dirty="0"/>
          </a:p>
        </p:txBody>
      </p:sp>
      <p:sp>
        <p:nvSpPr>
          <p:cNvPr id="8" name="Text 6"/>
          <p:cNvSpPr/>
          <p:nvPr/>
        </p:nvSpPr>
        <p:spPr>
          <a:xfrm>
            <a:off x="1645920" y="3657600"/>
            <a:ext cx="8412480" cy="411480"/>
          </a:xfrm>
          <a:prstGeom prst="rect">
            <a:avLst/>
          </a:prstGeom>
          <a:noFill/>
          <a:ln/>
        </p:spPr>
        <p:txBody>
          <a:bodyPr wrap="square" rtlCol="0" anchor="ctr"/>
          <a:lstStyle/>
          <a:p>
            <a:pPr indent="0" marL="0">
              <a:buNone/>
            </a:pPr>
            <a:r>
              <a:rPr lang="en-US" sz="1300" dirty="0">
                <a:solidFill>
                  <a:srgbClr val="F8FAFC"/>
                </a:solidFill>
                <a:latin typeface="Calibri" pitchFamily="34" charset="0"/>
                <a:ea typeface="Calibri" pitchFamily="34" charset="-122"/>
                <a:cs typeface="Calibri" pitchFamily="34" charset="-120"/>
              </a:rPr>
              <a:t>2. Plan a Tu Medida: Definimos la capacidad de clientes de tu negocio (Consumidores, Revendedores o Mayorista).</a:t>
            </a:r>
            <a:endParaRPr lang="en-US" sz="1300" dirty="0"/>
          </a:p>
        </p:txBody>
      </p:sp>
      <p:sp>
        <p:nvSpPr>
          <p:cNvPr id="9" name="Text 7"/>
          <p:cNvSpPr/>
          <p:nvPr/>
        </p:nvSpPr>
        <p:spPr>
          <a:xfrm>
            <a:off x="1645920" y="4160520"/>
            <a:ext cx="8412480" cy="411480"/>
          </a:xfrm>
          <a:prstGeom prst="rect">
            <a:avLst/>
          </a:prstGeom>
          <a:noFill/>
          <a:ln/>
        </p:spPr>
        <p:txBody>
          <a:bodyPr wrap="square" rtlCol="0" anchor="ctr"/>
          <a:lstStyle/>
          <a:p>
            <a:pPr indent="0" marL="0">
              <a:buNone/>
            </a:pPr>
            <a:r>
              <a:rPr lang="en-US" sz="1300" dirty="0">
                <a:solidFill>
                  <a:srgbClr val="F8FAFC"/>
                </a:solidFill>
                <a:latin typeface="Calibri" pitchFamily="34" charset="0"/>
                <a:ea typeface="Calibri" pitchFamily="34" charset="-122"/>
                <a:cs typeface="Calibri" pitchFamily="34" charset="-120"/>
              </a:rPr>
              <a:t>3. Lanzamiento en 24h: Conectamos tus líneas y dejas atrás las planillas manuales para siempre.</a:t>
            </a:r>
            <a:endParaRPr lang="en-US" sz="1300" dirty="0"/>
          </a:p>
        </p:txBody>
      </p:sp>
      <p:sp>
        <p:nvSpPr>
          <p:cNvPr id="10" name="Text 8"/>
          <p:cNvSpPr/>
          <p:nvPr/>
        </p:nvSpPr>
        <p:spPr>
          <a:xfrm>
            <a:off x="1097280" y="5120640"/>
            <a:ext cx="9601200" cy="365760"/>
          </a:xfrm>
          <a:prstGeom prst="rect">
            <a:avLst/>
          </a:prstGeom>
          <a:noFill/>
          <a:ln/>
        </p:spPr>
        <p:txBody>
          <a:bodyPr wrap="square" rtlCol="0" anchor="ctr"/>
          <a:lstStyle/>
          <a:p>
            <a:pPr algn="ctr" indent="0" marL="0">
              <a:buNone/>
            </a:pPr>
            <a:r>
              <a:rPr lang="en-US" sz="1500" b="1" spc="100" kern="0" dirty="0">
                <a:solidFill>
                  <a:srgbClr val="38BDF8"/>
                </a:solidFill>
                <a:latin typeface="Calibri" pitchFamily="34" charset="0"/>
                <a:ea typeface="Calibri" pitchFamily="34" charset="-122"/>
                <a:cs typeface="Calibri" pitchFamily="34" charset="-120"/>
              </a:rPr>
              <a:t>¡HABLEMOS AHORA Y PON TU NEGOCIO EN PILOTO AUTOMÁTICO!</a:t>
            </a:r>
            <a:endParaRPr lang="en-US" sz="1500" dirty="0"/>
          </a:p>
        </p:txBody>
      </p:sp>
      <p:sp>
        <p:nvSpPr>
          <p:cNvPr id="11" name="Text 9"/>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StreamVault v2 • Plataforma de Automatización y CRM para Streaming</a:t>
            </a:r>
            <a:endParaRPr lang="en-US" sz="900" dirty="0"/>
          </a:p>
        </p:txBody>
      </p:sp>
      <p:sp>
        <p:nvSpPr>
          <p:cNvPr id="12" name="Text 10"/>
          <p:cNvSpPr/>
          <p:nvPr/>
        </p:nvSpPr>
        <p:spPr>
          <a:xfrm>
            <a:off x="10515600" y="649224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Slide 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StreamVault v2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StreamVault v2 - Presentación Comercial</dc:title>
  <dc:subject>PptxGenJS Presentation</dc:subject>
  <dc:creator>StreamVault Team</dc:creator>
  <cp:lastModifiedBy>StreamVault Team</cp:lastModifiedBy>
  <cp:revision>1</cp:revision>
  <dcterms:created xsi:type="dcterms:W3CDTF">2026-09-20T23:06:16Z</dcterms:created>
  <dcterms:modified xsi:type="dcterms:W3CDTF">2026-09-20T23:06:16Z</dcterms:modified>
</cp:coreProperties>
</file>